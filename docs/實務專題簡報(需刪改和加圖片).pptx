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2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67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.qt.io/qtforpython-6/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docs.opencv.org/" TargetMode="Externa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Relationship Id="rId6" Type="http://schemas.openxmlformats.org/officeDocument/2006/relationships/hyperlink" Target="https://doi.org/10.1109/TBME.2016.2609282" TargetMode="External"/><Relationship Id="rId5" Type="http://schemas.openxmlformats.org/officeDocument/2006/relationships/hyperlink" Target="https://sites.google.com/view/utarldd/home" TargetMode="External"/><Relationship Id="rId10" Type="http://schemas.openxmlformats.org/officeDocument/2006/relationships/hyperlink" Target="https://pmc.ncbi.nlm.nih.gov/articles/PMC8914892/" TargetMode="External"/><Relationship Id="rId4" Type="http://schemas.openxmlformats.org/officeDocument/2006/relationships/hyperlink" Target="https://ai.google.dev/edge/mediapipe/solutions/vision/face_landmarker" TargetMode="External"/><Relationship Id="rId9" Type="http://schemas.openxmlformats.org/officeDocument/2006/relationships/hyperlink" Target="https://flask-socketio.readthedocs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92833"/>
            <a:ext cx="8229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dirty="0" err="1">
                <a:latin typeface="HGGothicE" panose="020B0909000000000000" pitchFamily="49" charset="-128"/>
                <a:ea typeface="HGGothicE" panose="020B0909000000000000" pitchFamily="49" charset="-128"/>
              </a:rPr>
              <a:t>基於人臉影像與生理特徵之非侵入式疲勞偵測與警示系統</a:t>
            </a:r>
            <a:endParaRPr sz="44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18328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pPr algn="ctr"/>
            <a:r>
              <a:rPr dirty="0" err="1">
                <a:latin typeface="HGGothicE" panose="020B0909000000000000" pitchFamily="49" charset="-128"/>
                <a:ea typeface="HGGothicE" panose="020B0909000000000000" pitchFamily="49" charset="-128"/>
              </a:rPr>
              <a:t>組員：李奕辰</a:t>
            </a:r>
            <a:r>
              <a:rPr lang="zh-TW" altLang="en-US" dirty="0">
                <a:latin typeface="HGGothicE" panose="020B0909000000000000" pitchFamily="49" charset="-128"/>
                <a:ea typeface="HGGothicE" panose="020B0909000000000000" pitchFamily="49" charset="-128"/>
              </a:rPr>
              <a:t>、陳聿廷</a:t>
            </a:r>
            <a:r>
              <a:rPr lang="en-US" altLang="zh-TW" dirty="0">
                <a:latin typeface="HGGothicE" panose="020B0909000000000000" pitchFamily="49" charset="-128"/>
                <a:ea typeface="HGGothicE" panose="020B0909000000000000" pitchFamily="49" charset="-128"/>
              </a:rPr>
              <a:t>(</a:t>
            </a:r>
            <a:r>
              <a:rPr lang="zh-TW" altLang="en-US" dirty="0">
                <a:latin typeface="HGGothicE" panose="020B0909000000000000" pitchFamily="49" charset="-128"/>
                <a:ea typeface="HGGothicE" panose="020B0909000000000000" pitchFamily="49" charset="-128"/>
              </a:rPr>
              <a:t>電子系</a:t>
            </a:r>
            <a:r>
              <a:rPr lang="en-US" altLang="zh-TW" dirty="0">
                <a:solidFill/>
                <a:latin typeface="HGGothicE" panose="020B0909000000000000" pitchFamily="49" charset="-128"/>
                <a:ea typeface="HGGothicE" panose="020B0909000000000000" pitchFamily="49" charset="-128"/>
              </a:rPr>
              <a:t>)</a:t>
            </a:r>
            <a:endParaRPr dirty="0">
              <a:latin typeface="HGGothicE" panose="020B0909000000000000" pitchFamily="49" charset="-128"/>
              <a:ea typeface="HGGothicE" panose="020B0909000000000000" pitchFamily="49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4416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簡報大綱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r>
              <a:rPr sz="2800" dirty="0">
                <a:latin typeface="HGGothicE" panose="020B0909000000000000" pitchFamily="49" charset="-128"/>
                <a:ea typeface="HGGothicE" panose="020B0909000000000000" pitchFamily="49" charset="-128"/>
              </a:rPr>
              <a:t>1. </a:t>
            </a:r>
            <a:r>
              <a:rPr sz="2800" dirty="0" err="1">
                <a:latin typeface="HGGothicE" panose="020B0909000000000000" pitchFamily="49" charset="-128"/>
                <a:ea typeface="HGGothicE" panose="020B0909000000000000" pitchFamily="49" charset="-128"/>
              </a:rPr>
              <a:t>專題背景與研究目標</a:t>
            </a:r>
            <a:endParaRPr sz="28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r>
              <a:rPr sz="2800" dirty="0">
                <a:latin typeface="HGGothicE" panose="020B0909000000000000" pitchFamily="49" charset="-128"/>
                <a:ea typeface="HGGothicE" panose="020B0909000000000000" pitchFamily="49" charset="-128"/>
              </a:rPr>
              <a:t>2. </a:t>
            </a:r>
            <a:r>
              <a:rPr sz="2800" dirty="0" err="1">
                <a:latin typeface="HGGothicE" panose="020B0909000000000000" pitchFamily="49" charset="-128"/>
                <a:ea typeface="HGGothicE" panose="020B0909000000000000" pitchFamily="49" charset="-128"/>
              </a:rPr>
              <a:t>疲勞辨識系統架構與資料流程</a:t>
            </a:r>
            <a:endParaRPr sz="28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r>
              <a:rPr sz="2800" dirty="0">
                <a:latin typeface="HGGothicE" panose="020B0909000000000000" pitchFamily="49" charset="-128"/>
                <a:ea typeface="HGGothicE" panose="020B0909000000000000" pitchFamily="49" charset="-128"/>
              </a:rPr>
              <a:t>3. </a:t>
            </a:r>
            <a:r>
              <a:rPr sz="2800" dirty="0" err="1">
                <a:latin typeface="HGGothicE" panose="020B0909000000000000" pitchFamily="49" charset="-128"/>
                <a:ea typeface="HGGothicE" panose="020B0909000000000000" pitchFamily="49" charset="-128"/>
              </a:rPr>
              <a:t>行為特徵、rPPG</a:t>
            </a:r>
            <a:r>
              <a:rPr sz="2800" dirty="0">
                <a:latin typeface="HGGothicE" panose="020B0909000000000000" pitchFamily="49" charset="-128"/>
                <a:ea typeface="HGGothicE" panose="020B0909000000000000" pitchFamily="49" charset="-128"/>
              </a:rPr>
              <a:t> </a:t>
            </a:r>
            <a:r>
              <a:rPr sz="2800" dirty="0" err="1">
                <a:latin typeface="HGGothicE" panose="020B0909000000000000" pitchFamily="49" charset="-128"/>
                <a:ea typeface="HGGothicE" panose="020B0909000000000000" pitchFamily="49" charset="-128"/>
              </a:rPr>
              <a:t>與融合評分</a:t>
            </a:r>
            <a:endParaRPr sz="28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r>
              <a:rPr sz="2800" dirty="0">
                <a:latin typeface="HGGothicE" panose="020B0909000000000000" pitchFamily="49" charset="-128"/>
                <a:ea typeface="HGGothicE" panose="020B0909000000000000" pitchFamily="49" charset="-128"/>
              </a:rPr>
              <a:t>4. </a:t>
            </a:r>
            <a:r>
              <a:rPr sz="2800" dirty="0" err="1">
                <a:latin typeface="HGGothicE" panose="020B0909000000000000" pitchFamily="49" charset="-128"/>
                <a:ea typeface="HGGothicE" panose="020B0909000000000000" pitchFamily="49" charset="-128"/>
              </a:rPr>
              <a:t>品質控管、實作模組與介面</a:t>
            </a:r>
            <a:endParaRPr sz="28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r>
              <a:rPr sz="2800" dirty="0">
                <a:latin typeface="HGGothicE" panose="020B0909000000000000" pitchFamily="49" charset="-128"/>
                <a:ea typeface="HGGothicE" panose="020B0909000000000000" pitchFamily="49" charset="-128"/>
              </a:rPr>
              <a:t>5. UTA-RLDD </a:t>
            </a:r>
            <a:r>
              <a:rPr sz="2800" dirty="0" err="1">
                <a:latin typeface="HGGothicE" panose="020B0909000000000000" pitchFamily="49" charset="-128"/>
                <a:ea typeface="HGGothicE" panose="020B0909000000000000" pitchFamily="49" charset="-128"/>
              </a:rPr>
              <a:t>驗證、成果、限制與展望</a:t>
            </a:r>
            <a:endParaRPr sz="28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13446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專題演進與定位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>
                <a:latin typeface="+mj-lt"/>
                <a:ea typeface="HGGothicE" panose="020B0909000000000000" pitchFamily="49" charset="-128"/>
              </a:rPr>
              <a:t>• </a:t>
            </a:r>
            <a:r>
              <a:rPr sz="2400" dirty="0" err="1">
                <a:latin typeface="+mj-lt"/>
                <a:ea typeface="HGGothicE" panose="020B0909000000000000" pitchFamily="49" charset="-128"/>
              </a:rPr>
              <a:t>最初啟發：軍用無人機長時間值勤的疲勞監測需求</a:t>
            </a:r>
            <a:endParaRPr sz="2400" dirty="0">
              <a:latin typeface="+mj-lt"/>
              <a:ea typeface="HGGothicE" panose="020B0909000000000000" pitchFamily="49" charset="-128"/>
            </a:endParaRPr>
          </a:p>
          <a:p>
            <a:r>
              <a:rPr sz="2400" dirty="0">
                <a:latin typeface="+mj-lt"/>
                <a:ea typeface="HGGothicE" panose="020B0909000000000000" pitchFamily="49" charset="-128"/>
              </a:rPr>
              <a:t>• </a:t>
            </a:r>
            <a:r>
              <a:rPr sz="2400" dirty="0" err="1">
                <a:latin typeface="+mj-lt"/>
                <a:ea typeface="HGGothicE" panose="020B0909000000000000" pitchFamily="49" charset="-128"/>
              </a:rPr>
              <a:t>現行主軸：通用非侵入式疲勞偵測與警示系統</a:t>
            </a:r>
            <a:endParaRPr sz="2400" dirty="0">
              <a:latin typeface="+mj-lt"/>
              <a:ea typeface="HGGothicE" panose="020B0909000000000000" pitchFamily="49" charset="-128"/>
            </a:endParaRPr>
          </a:p>
          <a:p>
            <a:r>
              <a:rPr sz="2400" dirty="0">
                <a:latin typeface="+mj-lt"/>
                <a:ea typeface="HGGothicE" panose="020B0909000000000000" pitchFamily="49" charset="-128"/>
              </a:rPr>
              <a:t>• </a:t>
            </a:r>
            <a:r>
              <a:rPr sz="2800" dirty="0" err="1">
                <a:latin typeface="+mj-lt"/>
                <a:ea typeface="HGGothicE" panose="020B0909000000000000" pitchFamily="49" charset="-128"/>
              </a:rPr>
              <a:t>核心技術</a:t>
            </a:r>
            <a:r>
              <a:rPr sz="2400" dirty="0" err="1">
                <a:latin typeface="+mj-lt"/>
                <a:ea typeface="HGGothicE" panose="020B0909000000000000" pitchFamily="49" charset="-128"/>
              </a:rPr>
              <a:t>：MediaPipe</a:t>
            </a:r>
            <a:r>
              <a:rPr sz="2400" dirty="0">
                <a:latin typeface="+mj-lt"/>
                <a:ea typeface="HGGothicE" panose="020B0909000000000000" pitchFamily="49" charset="-128"/>
              </a:rPr>
              <a:t> </a:t>
            </a:r>
            <a:r>
              <a:rPr sz="2400" dirty="0" err="1">
                <a:latin typeface="+mj-lt"/>
                <a:ea typeface="HGGothicE" panose="020B0909000000000000" pitchFamily="49" charset="-128"/>
              </a:rPr>
              <a:t>臉部分析</a:t>
            </a:r>
            <a:r>
              <a:rPr sz="2400" dirty="0">
                <a:latin typeface="+mj-lt"/>
                <a:ea typeface="HGGothicE" panose="020B0909000000000000" pitchFamily="49" charset="-128"/>
              </a:rPr>
              <a:t> + </a:t>
            </a:r>
            <a:r>
              <a:rPr sz="2400" dirty="0" err="1">
                <a:latin typeface="+mj-lt"/>
                <a:ea typeface="HGGothicE" panose="020B0909000000000000" pitchFamily="49" charset="-128"/>
              </a:rPr>
              <a:t>rPPG</a:t>
            </a:r>
            <a:r>
              <a:rPr sz="2400" dirty="0">
                <a:latin typeface="+mj-lt"/>
                <a:ea typeface="HGGothicE" panose="020B0909000000000000" pitchFamily="49" charset="-128"/>
              </a:rPr>
              <a:t> + </a:t>
            </a:r>
            <a:r>
              <a:rPr sz="2400" dirty="0" err="1">
                <a:latin typeface="+mj-lt"/>
                <a:ea typeface="HGGothicE" panose="020B0909000000000000" pitchFamily="49" charset="-128"/>
              </a:rPr>
              <a:t>多特徵融合</a:t>
            </a:r>
            <a:endParaRPr sz="2400" dirty="0">
              <a:latin typeface="+mj-lt"/>
              <a:ea typeface="HGGothicE" panose="020B0909000000000000" pitchFamily="49" charset="-128"/>
            </a:endParaRPr>
          </a:p>
          <a:p>
            <a:r>
              <a:rPr sz="2400" dirty="0">
                <a:solidFill/>
                <a:latin typeface="+mj-lt"/>
                <a:ea typeface="HGGothicE" panose="020B0909000000000000" pitchFamily="49" charset="-128"/>
              </a:rPr>
              <a:t>• </a:t>
            </a:r>
            <a:r>
              <a:rPr sz="2400" dirty="0" err="1">
                <a:solidFill/>
                <a:latin typeface="+mj-lt"/>
                <a:ea typeface="HGGothicE" panose="020B0909000000000000" pitchFamily="49" charset="-128"/>
              </a:rPr>
              <a:t>輸出定位：趨勢提示與紀錄，非醫療診斷或認證分類器</a:t>
            </a:r>
            <a:endParaRPr sz="2400" dirty="0">
              <a:solidFill/>
              <a:latin typeface="+mj-lt"/>
              <a:ea typeface="HGGothicE" panose="020B0909000000000000" pitchFamily="49" charset="-128"/>
            </a:endParaRPr>
          </a:p>
          <a:p>
            <a:endParaRPr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建議插圖：建議：專題演進時間軸示意（軍用無人機啟發</a:t>
            </a:r>
            <a:r>
              <a:rPr dirty="0"/>
              <a:t> → </a:t>
            </a:r>
            <a:r>
              <a:rPr dirty="0" err="1"/>
              <a:t>疲勞系統</a:t>
            </a:r>
            <a:r>
              <a:rPr dirty="0"/>
              <a:t> → </a:t>
            </a:r>
            <a:r>
              <a:rPr dirty="0" err="1"/>
              <a:t>通用定位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4416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研究動機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</a:t>
            </a:r>
            <a:r>
              <a:rPr sz="2400" dirty="0" err="1"/>
              <a:t>長時間面對螢幕的專注任務易累積疲勞與注意力下降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眼睛閉合、眨眼異常、視線減緩等行為具可量化徵兆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一般</a:t>
            </a:r>
            <a:r>
              <a:rPr sz="2400" dirty="0"/>
              <a:t> webcam </a:t>
            </a:r>
            <a:r>
              <a:rPr sz="2400" dirty="0" err="1"/>
              <a:t>即可進行非接觸監測，部署成本低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需要可即時警示、可錄製、可回放的工程原型</a:t>
            </a:r>
            <a:endParaRPr sz="2400" dirty="0"/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需以公開資料集驗證管線穩定性與特徵趨勢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建議插圖：選填：長時間監控／疲勞風險情境示意圖（免費圖庫或簡圖即可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4416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研究目標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建立可即時運作的疲勞辨識原型系統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擷取眼部、視線、頭部、嘴部等行為疲勞特徵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輔以</a:t>
            </a:r>
            <a:r>
              <a:rPr sz="2400" dirty="0"/>
              <a:t> </a:t>
            </a:r>
            <a:r>
              <a:rPr sz="2400" dirty="0" err="1"/>
              <a:t>rPPG</a:t>
            </a:r>
            <a:r>
              <a:rPr sz="2400" dirty="0"/>
              <a:t> </a:t>
            </a:r>
            <a:r>
              <a:rPr sz="2400" dirty="0" err="1"/>
              <a:t>估計心率與生理負荷趨勢</a:t>
            </a:r>
            <a:endParaRPr sz="2400" dirty="0"/>
          </a:p>
          <a:p>
            <a:r>
              <a:rPr sz="2400" dirty="0"/>
              <a:t>• 以 </a:t>
            </a:r>
            <a:r>
              <a:rPr sz="2400" dirty="0" err="1"/>
              <a:t>FatigueFuser</a:t>
            </a:r>
            <a:r>
              <a:rPr sz="2400" dirty="0"/>
              <a:t> </a:t>
            </a:r>
            <a:r>
              <a:rPr sz="2400" dirty="0" err="1"/>
              <a:t>輸出融合分數與狀態分級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完成</a:t>
            </a:r>
            <a:r>
              <a:rPr sz="2400" dirty="0"/>
              <a:t> </a:t>
            </a:r>
            <a:r>
              <a:rPr sz="2400" dirty="0" err="1"/>
              <a:t>GUI、SQLite、Web</a:t>
            </a:r>
            <a:r>
              <a:rPr sz="2400" dirty="0"/>
              <a:t> 與 UTA-RLDD </a:t>
            </a:r>
            <a:r>
              <a:rPr sz="2400" dirty="0" err="1"/>
              <a:t>批次驗證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5702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系統整體架構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</a:t>
            </a:r>
            <a:r>
              <a:rPr sz="2400" dirty="0" err="1"/>
              <a:t>攝影機擷取</a:t>
            </a:r>
            <a:r>
              <a:rPr sz="2400" dirty="0"/>
              <a:t> → </a:t>
            </a:r>
            <a:r>
              <a:rPr sz="2400" dirty="0" err="1"/>
              <a:t>影像佇列（取最新幀</a:t>
            </a:r>
            <a:r>
              <a:rPr sz="2400" dirty="0"/>
              <a:t>）</a:t>
            </a:r>
          </a:p>
          <a:p>
            <a:r>
              <a:rPr sz="2400" dirty="0"/>
              <a:t>• </a:t>
            </a:r>
            <a:r>
              <a:rPr sz="2400" dirty="0" err="1"/>
              <a:t>combined_worker：共用</a:t>
            </a:r>
            <a:r>
              <a:rPr sz="2400" dirty="0"/>
              <a:t> </a:t>
            </a:r>
            <a:r>
              <a:rPr sz="2400" dirty="0" err="1"/>
              <a:t>MediaPipe</a:t>
            </a:r>
            <a:r>
              <a:rPr sz="2400" dirty="0"/>
              <a:t> </a:t>
            </a:r>
            <a:r>
              <a:rPr sz="2400" dirty="0" err="1"/>
              <a:t>臉部偵測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分流</a:t>
            </a:r>
            <a:r>
              <a:rPr sz="2400" dirty="0"/>
              <a:t>：</a:t>
            </a:r>
          </a:p>
          <a:p>
            <a:r>
              <a:rPr sz="2400" dirty="0"/>
              <a:t>  - </a:t>
            </a:r>
            <a:r>
              <a:rPr sz="2400" dirty="0" err="1"/>
              <a:t>fatigue_engine</a:t>
            </a:r>
            <a:r>
              <a:rPr sz="2400" dirty="0"/>
              <a:t> / </a:t>
            </a:r>
            <a:r>
              <a:rPr sz="2400" dirty="0" err="1"/>
              <a:t>fatigue_scorer：行為疲勞</a:t>
            </a:r>
            <a:endParaRPr sz="2400" dirty="0"/>
          </a:p>
          <a:p>
            <a:r>
              <a:rPr sz="2400" dirty="0"/>
              <a:t>  - </a:t>
            </a:r>
            <a:r>
              <a:rPr sz="2400" dirty="0" err="1"/>
              <a:t>rppg_worker：生理訊號</a:t>
            </a:r>
            <a:endParaRPr sz="2400" dirty="0"/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metrics_recorder</a:t>
            </a:r>
            <a:r>
              <a:rPr sz="2400" dirty="0">
                <a:solidFill/>
              </a:rPr>
              <a:t> → </a:t>
            </a:r>
            <a:r>
              <a:rPr sz="2400" dirty="0" err="1">
                <a:solidFill/>
              </a:rPr>
              <a:t>SQLite；web_server</a:t>
            </a:r>
            <a:r>
              <a:rPr sz="2400" dirty="0">
                <a:solidFill/>
              </a:rPr>
              <a:t> → </a:t>
            </a:r>
            <a:r>
              <a:rPr sz="2400" dirty="0" err="1">
                <a:solidFill/>
              </a:rPr>
              <a:t>儀表板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建議插圖：必插：系統架構圖（專案內「系統架構圖_草稿.svg」匯出</a:t>
            </a:r>
            <a:r>
              <a:rPr dirty="0"/>
              <a:t> </a:t>
            </a:r>
            <a:r>
              <a:rPr dirty="0" err="1"/>
              <a:t>PNG，或自繪方塊圖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71720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dirty="0" err="1">
                <a:latin typeface="+mj-lt"/>
                <a:ea typeface="BIZ UDPGothic" panose="020B0400000000000000" pitchFamily="34" charset="-128"/>
              </a:rPr>
              <a:t>MediaPipe</a:t>
            </a:r>
            <a:r>
              <a:rPr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與臉部</a:t>
            </a:r>
            <a:r>
              <a:rPr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r>
              <a:rPr sz="4400" dirty="0">
                <a:latin typeface="+mj-lt"/>
                <a:ea typeface="BIZ UDPGothic" panose="020B0400000000000000" pitchFamily="34" charset="-128"/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Face Landmarker：478 </a:t>
            </a:r>
            <a:r>
              <a:rPr sz="2400" dirty="0" err="1"/>
              <a:t>landmarks、blendshape、姿態矩陣</a:t>
            </a:r>
            <a:endParaRPr sz="2400" dirty="0"/>
          </a:p>
          <a:p>
            <a:r>
              <a:rPr sz="2400" dirty="0"/>
              <a:t>• VIDEO </a:t>
            </a:r>
            <a:r>
              <a:rPr sz="2400" dirty="0" err="1"/>
              <a:t>模式</a:t>
            </a:r>
            <a:r>
              <a:rPr sz="2400" dirty="0"/>
              <a:t> + </a:t>
            </a:r>
            <a:r>
              <a:rPr sz="2400" dirty="0" err="1"/>
              <a:t>毫秒</a:t>
            </a:r>
            <a:r>
              <a:rPr sz="2400" dirty="0"/>
              <a:t> </a:t>
            </a:r>
            <a:r>
              <a:rPr sz="2400" dirty="0" err="1"/>
              <a:t>timestamp，維持追蹤連續性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rPPG</a:t>
            </a:r>
            <a:r>
              <a:rPr sz="2400" dirty="0"/>
              <a:t> </a:t>
            </a:r>
            <a:r>
              <a:rPr sz="2400" dirty="0" err="1"/>
              <a:t>ROI：額頭、左右臉頰、眉心等皮膚區域</a:t>
            </a:r>
            <a:endParaRPr sz="2400" dirty="0"/>
          </a:p>
          <a:p>
            <a:r>
              <a:rPr sz="2400" dirty="0"/>
              <a:t>• ROI </a:t>
            </a:r>
            <a:r>
              <a:rPr sz="2400" dirty="0" err="1"/>
              <a:t>動態權重：姿態懲罰、遮擋降權、polygon</a:t>
            </a:r>
            <a:r>
              <a:rPr sz="2400" dirty="0"/>
              <a:t> </a:t>
            </a:r>
            <a:r>
              <a:rPr sz="2400" dirty="0" err="1"/>
              <a:t>平滑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品質診斷：landmark</a:t>
            </a:r>
            <a:r>
              <a:rPr sz="2400" dirty="0"/>
              <a:t> </a:t>
            </a:r>
            <a:r>
              <a:rPr sz="2400" dirty="0" err="1"/>
              <a:t>jitter、ROI</a:t>
            </a:r>
            <a:r>
              <a:rPr sz="2400" dirty="0"/>
              <a:t> </a:t>
            </a:r>
            <a:r>
              <a:rPr sz="2400" dirty="0" err="1">
                <a:solidFill/>
              </a:rPr>
              <a:t>面積穩定度</a:t>
            </a:r>
            <a:endParaRPr sz="2400"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建議插圖：必插：MediaPipe</a:t>
            </a:r>
            <a:r>
              <a:rPr dirty="0"/>
              <a:t> </a:t>
            </a:r>
            <a:r>
              <a:rPr dirty="0" err="1"/>
              <a:t>臉部</a:t>
            </a:r>
            <a:r>
              <a:rPr dirty="0"/>
              <a:t> landmark </a:t>
            </a:r>
            <a:r>
              <a:rPr dirty="0" err="1"/>
              <a:t>示意</a:t>
            </a:r>
            <a:r>
              <a:rPr dirty="0"/>
              <a:t> + GUI 上 ROI </a:t>
            </a:r>
            <a:r>
              <a:rPr dirty="0" err="1"/>
              <a:t>疊圖截圖（額頭／雙頰／眉心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5702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眼部疲勞特徵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15570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EAR（Eye</a:t>
            </a:r>
            <a:r>
              <a:rPr sz="2400" dirty="0"/>
              <a:t> Aspect Ratio）：</a:t>
            </a:r>
            <a:r>
              <a:rPr sz="2400" dirty="0" err="1"/>
              <a:t>睜眼</a:t>
            </a:r>
            <a:r>
              <a:rPr sz="2400" dirty="0"/>
              <a:t> / </a:t>
            </a:r>
            <a:r>
              <a:rPr sz="2400" dirty="0" err="1"/>
              <a:t>閉眼</a:t>
            </a:r>
            <a:r>
              <a:rPr sz="2400" dirty="0"/>
              <a:t> / </a:t>
            </a:r>
            <a:r>
              <a:rPr sz="2400" dirty="0" err="1"/>
              <a:t>眨眼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個人化眨眼</a:t>
            </a:r>
            <a:r>
              <a:rPr sz="2400" dirty="0"/>
              <a:t> </a:t>
            </a:r>
            <a:r>
              <a:rPr sz="2400" dirty="0" err="1"/>
              <a:t>baseline：前</a:t>
            </a:r>
            <a:r>
              <a:rPr sz="2400" dirty="0"/>
              <a:t> 12 </a:t>
            </a:r>
            <a:r>
              <a:rPr sz="2400" dirty="0" err="1"/>
              <a:t>次有效眨眼建立時序基準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PERCLOS：時間窗內眼睛閉合比例</a:t>
            </a:r>
            <a:endParaRPr sz="2400" dirty="0"/>
          </a:p>
          <a:p>
            <a:r>
              <a:rPr sz="2400" dirty="0"/>
              <a:t>  - 0.10：低警覺工程門檻</a:t>
            </a:r>
          </a:p>
          <a:p>
            <a:r>
              <a:rPr sz="2400" dirty="0"/>
              <a:t>  - 0.25：明顯嗜睡工程門檻</a:t>
            </a:r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長閉眼、眨眼頻率異常與瞇眼輔助判讀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建議插圖：必插：眼部特徵截圖（睜眼／閉眼／眨眼各一張，或</a:t>
            </a:r>
            <a:r>
              <a:rPr dirty="0"/>
              <a:t> EAR </a:t>
            </a:r>
            <a:r>
              <a:rPr dirty="0" err="1"/>
              <a:t>變化示意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60121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視線、頭部與嘴部特徵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視線：凝視時間、掃視頻率、空洞凝視（mental</a:t>
            </a:r>
            <a:r>
              <a:rPr sz="2400" dirty="0"/>
              <a:t> fatigue）</a:t>
            </a:r>
          </a:p>
          <a:p>
            <a:r>
              <a:rPr sz="2400" dirty="0"/>
              <a:t>• </a:t>
            </a:r>
            <a:r>
              <a:rPr sz="2400" dirty="0" err="1"/>
              <a:t>頭部姿態：pitch</a:t>
            </a:r>
            <a:r>
              <a:rPr sz="2400" dirty="0"/>
              <a:t> </a:t>
            </a:r>
            <a:r>
              <a:rPr sz="2400" dirty="0" err="1"/>
              <a:t>點頭、yaw</a:t>
            </a:r>
            <a:r>
              <a:rPr sz="2400" dirty="0"/>
              <a:t>/roll </a:t>
            </a:r>
            <a:r>
              <a:rPr sz="2400" dirty="0" err="1"/>
              <a:t>異常、微睡眠姿態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嘴部：MAR</a:t>
            </a:r>
            <a:r>
              <a:rPr sz="2400" dirty="0"/>
              <a:t> </a:t>
            </a:r>
            <a:r>
              <a:rPr sz="2400" dirty="0" err="1"/>
              <a:t>張嘴比例</a:t>
            </a:r>
            <a:r>
              <a:rPr sz="2400" dirty="0"/>
              <a:t> + </a:t>
            </a:r>
            <a:r>
              <a:rPr sz="2400" dirty="0" err="1"/>
              <a:t>blendshape</a:t>
            </a:r>
            <a:r>
              <a:rPr sz="2400" dirty="0"/>
              <a:t> </a:t>
            </a:r>
            <a:r>
              <a:rPr sz="2400" dirty="0" err="1"/>
              <a:t>輔助哈欠偵測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哈欠需持續時間與嘴部比例共同成立</a:t>
            </a:r>
            <a:endParaRPr sz="2400" dirty="0"/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皺眉權重降低：專注任務中更常代表認知負荷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建議插圖：建議：視線／頭部姿態／打呵欠觸發時的</a:t>
            </a:r>
            <a:r>
              <a:rPr dirty="0"/>
              <a:t> GUI overlay </a:t>
            </a:r>
            <a:r>
              <a:rPr dirty="0" err="1"/>
              <a:t>截圖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89428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+mj-lt"/>
                <a:ea typeface="BIZ UDPGothic" panose="020B0400000000000000" pitchFamily="34" charset="-128"/>
              </a:rPr>
              <a:t>rPPG</a:t>
            </a:r>
            <a:r>
              <a:rPr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生理訊號處理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有效皮膚</a:t>
            </a:r>
            <a:r>
              <a:rPr sz="2400" dirty="0"/>
              <a:t> ROI </a:t>
            </a:r>
            <a:r>
              <a:rPr sz="2400" dirty="0" err="1"/>
              <a:t>等權平均</a:t>
            </a:r>
            <a:r>
              <a:rPr sz="2400" dirty="0"/>
              <a:t> → RGB </a:t>
            </a:r>
            <a:r>
              <a:rPr sz="2400" dirty="0" err="1"/>
              <a:t>時間序列</a:t>
            </a:r>
            <a:endParaRPr sz="2400" dirty="0"/>
          </a:p>
          <a:p>
            <a:r>
              <a:rPr sz="2400" dirty="0"/>
              <a:t>• POS </a:t>
            </a:r>
            <a:r>
              <a:rPr sz="2400" dirty="0" err="1"/>
              <a:t>法分離脈搏相關色彩變化</a:t>
            </a:r>
            <a:endParaRPr sz="2400" dirty="0"/>
          </a:p>
          <a:p>
            <a:r>
              <a:rPr sz="2400" dirty="0"/>
              <a:t>• Butterworth </a:t>
            </a:r>
            <a:r>
              <a:rPr sz="2400" dirty="0" err="1"/>
              <a:t>帶通濾波</a:t>
            </a:r>
            <a:r>
              <a:rPr sz="2400" dirty="0"/>
              <a:t> + Welch </a:t>
            </a:r>
            <a:r>
              <a:rPr sz="2400" dirty="0" err="1"/>
              <a:t>頻譜峰值</a:t>
            </a:r>
            <a:r>
              <a:rPr sz="2400" dirty="0"/>
              <a:t> → BPM</a:t>
            </a:r>
          </a:p>
          <a:p>
            <a:r>
              <a:rPr sz="2400" dirty="0"/>
              <a:t>• </a:t>
            </a:r>
            <a:r>
              <a:rPr sz="2400" dirty="0" err="1"/>
              <a:t>穩定峰值間隔</a:t>
            </a:r>
            <a:r>
              <a:rPr sz="2400" dirty="0"/>
              <a:t> → HRV（RMSSD / SDNN </a:t>
            </a:r>
            <a:r>
              <a:rPr sz="2400" dirty="0" err="1"/>
              <a:t>等趨勢</a:t>
            </a:r>
            <a:r>
              <a:rPr sz="2400" dirty="0"/>
              <a:t>）</a:t>
            </a:r>
          </a:p>
          <a:p>
            <a:r>
              <a:rPr sz="2400" dirty="0"/>
              <a:t>• </a:t>
            </a:r>
            <a:r>
              <a:rPr sz="2400" dirty="0" err="1"/>
              <a:t>SQI、quality、ROI</a:t>
            </a:r>
            <a:r>
              <a:rPr sz="2400" dirty="0"/>
              <a:t> </a:t>
            </a:r>
            <a:r>
              <a:rPr sz="2400" dirty="0" err="1"/>
              <a:t>數不足時不輸出高信心</a:t>
            </a:r>
            <a:r>
              <a:rPr sz="2400" dirty="0">
                <a:solidFill/>
              </a:rPr>
              <a:t> BPM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建議插圖：必插：rPPG</a:t>
            </a:r>
            <a:r>
              <a:rPr dirty="0"/>
              <a:t> </a:t>
            </a:r>
            <a:r>
              <a:rPr dirty="0" err="1"/>
              <a:t>流程圖</a:t>
            </a:r>
            <a:r>
              <a:rPr dirty="0"/>
              <a:t>（「</a:t>
            </a:r>
            <a:r>
              <a:rPr dirty="0" err="1"/>
              <a:t>rPPG_訊號流程圖_草稿.svg</a:t>
            </a:r>
            <a:r>
              <a:rPr dirty="0"/>
              <a:t>」）+ </a:t>
            </a:r>
            <a:r>
              <a:rPr dirty="0" err="1"/>
              <a:t>可選</a:t>
            </a:r>
            <a:r>
              <a:rPr dirty="0"/>
              <a:t> </a:t>
            </a:r>
            <a:r>
              <a:rPr dirty="0" err="1"/>
              <a:t>BPM／脈波波形截圖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5567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融合評分</a:t>
            </a:r>
            <a:r>
              <a:rPr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r>
              <a:rPr sz="4400" dirty="0" err="1">
                <a:latin typeface="+mj-lt"/>
                <a:ea typeface="BIZ UDPGothic" panose="020B0400000000000000" pitchFamily="34" charset="-128"/>
              </a:rPr>
              <a:t>FatigueFuser</a:t>
            </a:r>
            <a:endParaRPr sz="4400" dirty="0">
              <a:latin typeface="+mj-lt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</a:t>
            </a:r>
            <a:r>
              <a:rPr sz="2400" dirty="0" err="1"/>
              <a:t>行為疲勞為主：預設權重約</a:t>
            </a:r>
            <a:r>
              <a:rPr sz="2400" dirty="0"/>
              <a:t> 85%</a:t>
            </a:r>
          </a:p>
          <a:p>
            <a:r>
              <a:rPr sz="2400" dirty="0"/>
              <a:t>• </a:t>
            </a:r>
            <a:r>
              <a:rPr sz="2400" dirty="0" err="1"/>
              <a:t>rPPG</a:t>
            </a:r>
            <a:r>
              <a:rPr sz="2400" dirty="0"/>
              <a:t> </a:t>
            </a:r>
            <a:r>
              <a:rPr sz="2400" dirty="0" err="1"/>
              <a:t>生理輔助：預設權重約</a:t>
            </a:r>
            <a:r>
              <a:rPr sz="2400" dirty="0"/>
              <a:t> 15%（</a:t>
            </a:r>
            <a:r>
              <a:rPr sz="2400" dirty="0" err="1"/>
              <a:t>僅品質足夠時</a:t>
            </a:r>
            <a:r>
              <a:rPr sz="2400" dirty="0"/>
              <a:t>）</a:t>
            </a:r>
          </a:p>
          <a:p>
            <a:r>
              <a:rPr sz="2400" dirty="0"/>
              <a:t>• </a:t>
            </a:r>
            <a:r>
              <a:rPr sz="2400" dirty="0" err="1"/>
              <a:t>規則式多門檻，非端到端深度學習分類器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輸入：各模組特徵分數</a:t>
            </a:r>
            <a:r>
              <a:rPr sz="2400" dirty="0"/>
              <a:t> + </a:t>
            </a:r>
            <a:r>
              <a:rPr sz="2400" dirty="0" err="1"/>
              <a:t>品質</a:t>
            </a:r>
            <a:r>
              <a:rPr sz="2400" dirty="0"/>
              <a:t> gate</a:t>
            </a:r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輸出：fused_score、狀態標籤、診斷欄位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建議插圖：建議：疲勞偵測流程圖</a:t>
            </a:r>
            <a:r>
              <a:rPr dirty="0"/>
              <a:t>（「</a:t>
            </a:r>
            <a:r>
              <a:rPr dirty="0" err="1"/>
              <a:t>疲勞偵測流程圖_草稿.svg</a:t>
            </a:r>
            <a:r>
              <a:rPr dirty="0"/>
              <a:t>」）</a:t>
            </a:r>
            <a:r>
              <a:rPr dirty="0" err="1"/>
              <a:t>或融合分數面板特寫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26297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狀態分級與警示邏輯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OK：正常警覺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LOW_VIGILANCE：低警覺</a:t>
            </a:r>
            <a:r>
              <a:rPr sz="2400" dirty="0"/>
              <a:t> / </a:t>
            </a:r>
            <a:r>
              <a:rPr sz="2400" dirty="0" err="1"/>
              <a:t>早期疲勞徵兆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DROWSY：明顯嗜睡趨勢</a:t>
            </a:r>
            <a:endParaRPr sz="2400" dirty="0"/>
          </a:p>
          <a:p>
            <a:r>
              <a:rPr sz="2400" dirty="0"/>
              <a:t>• CRITICAL / </a:t>
            </a:r>
            <a:r>
              <a:rPr sz="2400" dirty="0" err="1"/>
              <a:t>MICROSLEEP：高危或微睡眠事件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校準階段</a:t>
            </a:r>
            <a:r>
              <a:rPr sz="2400" dirty="0"/>
              <a:t> </a:t>
            </a:r>
            <a:r>
              <a:rPr sz="2400" dirty="0" err="1"/>
              <a:t>CALIBRATING：前段建立個人</a:t>
            </a:r>
            <a:r>
              <a:rPr sz="2400" dirty="0"/>
              <a:t> baseline</a:t>
            </a:r>
          </a:p>
          <a:p>
            <a:r>
              <a:rPr sz="2400" dirty="0">
                <a:solidFill/>
              </a:rPr>
              <a:t>• GUI overlay </a:t>
            </a:r>
            <a:r>
              <a:rPr sz="2400" dirty="0" err="1">
                <a:solidFill/>
              </a:rPr>
              <a:t>以顏色與文字即時提示操作者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建議插圖：必插：狀態標籤截圖（OK／LOW_VIGILANCE／DROWSY／CRITICAL</a:t>
            </a:r>
            <a:r>
              <a:rPr dirty="0"/>
              <a:t> </a:t>
            </a:r>
            <a:r>
              <a:rPr dirty="0" err="1"/>
              <a:t>不同顏色</a:t>
            </a:r>
            <a:r>
              <a:rPr dirty="0"/>
              <a:t> overlay）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8272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品質控管與個人化校準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臉部需足夠大、避免過度轉頭與快速晃動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統一品質分數：遮擋、光線、運動、ROI</a:t>
            </a:r>
            <a:r>
              <a:rPr sz="2400" dirty="0"/>
              <a:t> </a:t>
            </a:r>
            <a:r>
              <a:rPr sz="2400" dirty="0" err="1"/>
              <a:t>可用數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blendshape</a:t>
            </a:r>
            <a:r>
              <a:rPr sz="2400" dirty="0"/>
              <a:t> baseline </a:t>
            </a:r>
            <a:r>
              <a:rPr sz="2400" dirty="0" err="1"/>
              <a:t>持久化（mediapipe_calibration.json</a:t>
            </a:r>
            <a:r>
              <a:rPr sz="2400" dirty="0"/>
              <a:t>）</a:t>
            </a:r>
          </a:p>
          <a:p>
            <a:r>
              <a:rPr sz="2400" dirty="0"/>
              <a:t>• </a:t>
            </a:r>
            <a:r>
              <a:rPr sz="2400" dirty="0" err="1"/>
              <a:t>場景</a:t>
            </a:r>
            <a:r>
              <a:rPr sz="2400" dirty="0"/>
              <a:t> </a:t>
            </a:r>
            <a:r>
              <a:rPr sz="2400" dirty="0" err="1"/>
              <a:t>profile：stable_indoor</a:t>
            </a:r>
            <a:r>
              <a:rPr sz="2400" dirty="0"/>
              <a:t> / </a:t>
            </a:r>
            <a:r>
              <a:rPr sz="2400" dirty="0" err="1"/>
              <a:t>low_light</a:t>
            </a:r>
            <a:r>
              <a:rPr sz="2400" dirty="0"/>
              <a:t> / </a:t>
            </a:r>
            <a:r>
              <a:rPr sz="2400" dirty="0" err="1"/>
              <a:t>high_motion</a:t>
            </a:r>
            <a:endParaRPr sz="2400" dirty="0"/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品質不足時降低融合信心，避免誤報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建議插圖：選填：config</a:t>
            </a:r>
            <a:r>
              <a:rPr dirty="0"/>
              <a:t> </a:t>
            </a:r>
            <a:r>
              <a:rPr dirty="0" err="1"/>
              <a:t>調參畫面、品質分數或</a:t>
            </a:r>
            <a:r>
              <a:rPr dirty="0"/>
              <a:t> CALIBRATING </a:t>
            </a:r>
            <a:r>
              <a:rPr dirty="0" err="1"/>
              <a:t>階段截圖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5702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系統功能總覽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</a:t>
            </a:r>
            <a:r>
              <a:rPr sz="2400" dirty="0" err="1"/>
              <a:t>即時預覽、疲勞</a:t>
            </a:r>
            <a:r>
              <a:rPr sz="2400" dirty="0"/>
              <a:t> </a:t>
            </a:r>
            <a:r>
              <a:rPr sz="2400" dirty="0" err="1"/>
              <a:t>overlay、ROI</a:t>
            </a:r>
            <a:r>
              <a:rPr sz="2400" dirty="0"/>
              <a:t> 與 landmark </a:t>
            </a:r>
            <a:r>
              <a:rPr sz="2400" dirty="0" err="1"/>
              <a:t>疊圖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相機選擇、水平翻轉、後端切換（DSHOW</a:t>
            </a:r>
            <a:r>
              <a:rPr sz="2400" dirty="0"/>
              <a:t> / V4L2）</a:t>
            </a:r>
          </a:p>
          <a:p>
            <a:r>
              <a:rPr sz="2400" dirty="0"/>
              <a:t>• SQLite </a:t>
            </a:r>
            <a:r>
              <a:rPr sz="2400" dirty="0" err="1"/>
              <a:t>逐幀</a:t>
            </a:r>
            <a:r>
              <a:rPr sz="2400" dirty="0"/>
              <a:t> metrics + </a:t>
            </a:r>
            <a:r>
              <a:rPr sz="2400" dirty="0" err="1"/>
              <a:t>可選</a:t>
            </a:r>
            <a:r>
              <a:rPr sz="2400" dirty="0"/>
              <a:t> mp4 </a:t>
            </a:r>
            <a:r>
              <a:rPr sz="2400" dirty="0" err="1"/>
              <a:t>錄影</a:t>
            </a:r>
            <a:endParaRPr sz="2400" dirty="0"/>
          </a:p>
          <a:p>
            <a:r>
              <a:rPr sz="2400" dirty="0"/>
              <a:t>• Web </a:t>
            </a:r>
            <a:r>
              <a:rPr sz="2400" dirty="0" err="1"/>
              <a:t>儀表板：即時串流與歷史回放</a:t>
            </a:r>
            <a:endParaRPr sz="2400" dirty="0"/>
          </a:p>
          <a:p>
            <a:r>
              <a:rPr sz="2400" dirty="0">
                <a:solidFill/>
              </a:rPr>
              <a:t>• UTA-RLDD </a:t>
            </a:r>
            <a:r>
              <a:rPr sz="2400" dirty="0" err="1">
                <a:solidFill/>
              </a:rPr>
              <a:t>批次回放、CSV</a:t>
            </a:r>
            <a:r>
              <a:rPr sz="2400" dirty="0">
                <a:solidFill/>
              </a:rPr>
              <a:t> / HTML </a:t>
            </a:r>
            <a:r>
              <a:rPr sz="2400" dirty="0" err="1">
                <a:solidFill/>
              </a:rPr>
              <a:t>驗證報表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建議插圖：建議：功能總覽拼圖（相機、overlay、錄製、警示各一小圖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26297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技術實現與專案模組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Python 3.10、PySide6、OpenCV、NumPy、SciPy</a:t>
            </a:r>
          </a:p>
          <a:p>
            <a:r>
              <a:rPr sz="2400" dirty="0"/>
              <a:t>• main.py / </a:t>
            </a:r>
            <a:r>
              <a:rPr sz="2400" dirty="0" err="1"/>
              <a:t>gui</a:t>
            </a:r>
            <a:r>
              <a:rPr sz="2400" dirty="0"/>
              <a:t>/</a:t>
            </a:r>
            <a:r>
              <a:rPr sz="2400" dirty="0" err="1"/>
              <a:t>main_window.py：GUI</a:t>
            </a:r>
            <a:r>
              <a:rPr sz="2400" dirty="0"/>
              <a:t> </a:t>
            </a:r>
            <a:r>
              <a:rPr sz="2400" dirty="0" err="1"/>
              <a:t>主流程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gui</a:t>
            </a:r>
            <a:r>
              <a:rPr sz="2400" dirty="0"/>
              <a:t>/</a:t>
            </a:r>
            <a:r>
              <a:rPr sz="2400" dirty="0" err="1"/>
              <a:t>fatigue_engine.py：多模組疲勞特徵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gui</a:t>
            </a:r>
            <a:r>
              <a:rPr sz="2400" dirty="0"/>
              <a:t>/</a:t>
            </a:r>
            <a:r>
              <a:rPr sz="2400" dirty="0" err="1"/>
              <a:t>fatigue_scorer.py：FatigueFuser</a:t>
            </a:r>
            <a:endParaRPr sz="2400" dirty="0"/>
          </a:p>
          <a:p>
            <a:r>
              <a:rPr sz="2400" dirty="0"/>
              <a:t>• rppg/rppg_worker.py、gui/metrics_recorder.py</a:t>
            </a:r>
          </a:p>
          <a:p>
            <a:r>
              <a:rPr sz="2400" dirty="0">
                <a:solidFill/>
              </a:rPr>
              <a:t>• scripts/</a:t>
            </a:r>
            <a:r>
              <a:rPr sz="2400" dirty="0" err="1">
                <a:solidFill/>
              </a:rPr>
              <a:t>utarldd_replay.py、tests</a:t>
            </a:r>
            <a:r>
              <a:rPr sz="2400" dirty="0">
                <a:solidFill/>
              </a:rPr>
              <a:t>/（</a:t>
            </a:r>
            <a:r>
              <a:rPr sz="2400" dirty="0" err="1">
                <a:solidFill/>
              </a:rPr>
              <a:t>pytest</a:t>
            </a:r>
            <a:r>
              <a:rPr sz="2400" dirty="0">
                <a:solidFill/>
              </a:rPr>
              <a:t>）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建議插圖：必插：專案目錄架構圖（main.py、gui</a:t>
            </a:r>
            <a:r>
              <a:rPr dirty="0"/>
              <a:t>/、</a:t>
            </a:r>
            <a:r>
              <a:rPr dirty="0" err="1"/>
              <a:t>rppg</a:t>
            </a:r>
            <a:r>
              <a:rPr dirty="0"/>
              <a:t>/、config/、scripts/、tests/）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23940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桌面</a:t>
            </a:r>
            <a:r>
              <a:rPr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r>
              <a:rPr sz="4400" dirty="0">
                <a:latin typeface="+mj-lt"/>
                <a:ea typeface="BIZ UDPGothic" panose="020B0400000000000000" pitchFamily="34" charset="-128"/>
              </a:rPr>
              <a:t>GUI</a:t>
            </a:r>
            <a:r>
              <a:rPr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 與 </a:t>
            </a:r>
            <a:r>
              <a:rPr sz="4400" dirty="0">
                <a:ea typeface="BIZ UDPGothic" panose="020B0400000000000000" pitchFamily="34" charset="-128"/>
              </a:rPr>
              <a:t>Web</a:t>
            </a:r>
            <a:r>
              <a:rPr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儀表板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GUI：攝影機控制、疲勞數值、錄製、UTA-RLDD</a:t>
            </a:r>
            <a:r>
              <a:rPr sz="2400" dirty="0"/>
              <a:t> </a:t>
            </a:r>
            <a:r>
              <a:rPr sz="2400" dirty="0" err="1"/>
              <a:t>測試區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平行驗證：多進程批次回放（上限</a:t>
            </a:r>
            <a:r>
              <a:rPr sz="2400" dirty="0"/>
              <a:t> 4）</a:t>
            </a:r>
          </a:p>
          <a:p>
            <a:r>
              <a:rPr sz="2400" dirty="0"/>
              <a:t>• </a:t>
            </a:r>
            <a:r>
              <a:rPr sz="2400" dirty="0" err="1"/>
              <a:t>Web：Flask</a:t>
            </a:r>
            <a:r>
              <a:rPr sz="2400" dirty="0"/>
              <a:t> + </a:t>
            </a:r>
            <a:r>
              <a:rPr sz="2400" dirty="0" err="1"/>
              <a:t>SocketIO</a:t>
            </a:r>
            <a:r>
              <a:rPr sz="2400" dirty="0"/>
              <a:t> </a:t>
            </a:r>
            <a:r>
              <a:rPr sz="2400" dirty="0" err="1"/>
              <a:t>推送即時</a:t>
            </a:r>
            <a:r>
              <a:rPr sz="2400" dirty="0"/>
              <a:t> metrics</a:t>
            </a:r>
          </a:p>
          <a:p>
            <a:r>
              <a:rPr sz="2400" dirty="0"/>
              <a:t>• </a:t>
            </a:r>
            <a:r>
              <a:rPr sz="2400" dirty="0" err="1"/>
              <a:t>支援列出</a:t>
            </a:r>
            <a:r>
              <a:rPr sz="2400" dirty="0"/>
              <a:t> recordings 與 </a:t>
            </a:r>
            <a:r>
              <a:rPr sz="2400" dirty="0" err="1"/>
              <a:t>utarldd_runs</a:t>
            </a:r>
            <a:r>
              <a:rPr sz="2400" dirty="0"/>
              <a:t> </a:t>
            </a:r>
            <a:r>
              <a:rPr sz="2400" dirty="0" err="1"/>
              <a:t>資料庫回放</a:t>
            </a:r>
            <a:endParaRPr sz="2400" dirty="0"/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雙平台：Windows（DSHOW</a:t>
            </a:r>
            <a:r>
              <a:rPr sz="2400" dirty="0">
                <a:solidFill/>
              </a:rPr>
              <a:t>）/ Ubuntu（V4L2）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建議插圖：必插：圖1 </a:t>
            </a:r>
            <a:r>
              <a:rPr dirty="0" err="1"/>
              <a:t>系統主畫面全螢幕</a:t>
            </a:r>
            <a:r>
              <a:rPr dirty="0"/>
              <a:t> + 圖2 Web </a:t>
            </a:r>
            <a:r>
              <a:rPr dirty="0" err="1"/>
              <a:t>儀表板（即時曲線／回放畫面</a:t>
            </a:r>
            <a:r>
              <a:rPr dirty="0"/>
              <a:t>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82773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/>
              <a:t>UTA-RLDD</a:t>
            </a:r>
            <a:r>
              <a:rPr dirty="0"/>
              <a:t> </a:t>
            </a:r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驗證設計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資料集：Fold1_part1，12 </a:t>
            </a:r>
            <a:r>
              <a:rPr sz="2400" dirty="0" err="1"/>
              <a:t>受試者</a:t>
            </a:r>
            <a:r>
              <a:rPr sz="2400" dirty="0"/>
              <a:t> × 0/5/10 </a:t>
            </a:r>
            <a:r>
              <a:rPr sz="2400" dirty="0" err="1"/>
              <a:t>標籤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離線影片</a:t>
            </a:r>
            <a:r>
              <a:rPr sz="2400" dirty="0"/>
              <a:t> → </a:t>
            </a:r>
            <a:r>
              <a:rPr sz="2400" dirty="0" err="1"/>
              <a:t>共用</a:t>
            </a:r>
            <a:r>
              <a:rPr sz="2400" dirty="0"/>
              <a:t> </a:t>
            </a:r>
            <a:r>
              <a:rPr sz="2400" dirty="0" err="1"/>
              <a:t>FatigueEngine</a:t>
            </a:r>
            <a:r>
              <a:rPr sz="2400" dirty="0"/>
              <a:t> / </a:t>
            </a:r>
            <a:r>
              <a:rPr sz="2400" dirty="0" err="1"/>
              <a:t>RppgEngine</a:t>
            </a:r>
            <a:r>
              <a:rPr sz="2400" dirty="0"/>
              <a:t> / Fuser</a:t>
            </a:r>
          </a:p>
          <a:p>
            <a:r>
              <a:rPr sz="2400" dirty="0"/>
              <a:t>• </a:t>
            </a:r>
            <a:r>
              <a:rPr sz="2400" dirty="0" err="1"/>
              <a:t>標籤為整段影片類別，非逐幀</a:t>
            </a:r>
            <a:r>
              <a:rPr sz="2400" dirty="0"/>
              <a:t> ground truth</a:t>
            </a:r>
          </a:p>
          <a:p>
            <a:r>
              <a:rPr sz="2400" dirty="0"/>
              <a:t>• </a:t>
            </a:r>
            <a:r>
              <a:rPr sz="2400" dirty="0" err="1"/>
              <a:t>輸出：SQLite、summary</a:t>
            </a:r>
            <a:r>
              <a:rPr sz="2400" dirty="0"/>
              <a:t> </a:t>
            </a:r>
            <a:r>
              <a:rPr sz="2400" dirty="0" err="1"/>
              <a:t>CSV、validation</a:t>
            </a:r>
            <a:r>
              <a:rPr sz="2400" dirty="0"/>
              <a:t> report</a:t>
            </a:r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目的：驗證管線穩定性與</a:t>
            </a:r>
            <a:r>
              <a:rPr sz="2400" dirty="0">
                <a:solidFill/>
              </a:rPr>
              <a:t> PERCLOS / </a:t>
            </a:r>
            <a:r>
              <a:rPr sz="2400" dirty="0" err="1">
                <a:solidFill/>
              </a:rPr>
              <a:t>狀態趨勢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建議插圖：建議：UTA-RLDD</a:t>
            </a:r>
            <a:r>
              <a:rPr dirty="0"/>
              <a:t> </a:t>
            </a:r>
            <a:r>
              <a:rPr dirty="0" err="1"/>
              <a:t>回放流程圖（影片</a:t>
            </a:r>
            <a:r>
              <a:rPr dirty="0"/>
              <a:t> → </a:t>
            </a:r>
            <a:r>
              <a:rPr dirty="0" err="1"/>
              <a:t>分析管線</a:t>
            </a:r>
            <a:r>
              <a:rPr dirty="0"/>
              <a:t> → </a:t>
            </a:r>
            <a:r>
              <a:rPr dirty="0" err="1"/>
              <a:t>CSV／SQLite</a:t>
            </a:r>
            <a:r>
              <a:rPr dirty="0"/>
              <a:t>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75989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/>
              <a:t>UTA-RLDD </a:t>
            </a:r>
            <a:r>
              <a:rPr sz="4400" dirty="0" err="1"/>
              <a:t>量化結果</a:t>
            </a:r>
            <a:r>
              <a:rPr lang="zh-TW" altLang="en-US" sz="4400" dirty="0"/>
              <a:t> </a:t>
            </a:r>
            <a:r>
              <a:rPr lang="en-US" altLang="zh-TW" sz="4400" dirty="0">
                <a:solidFill>
                  <a:srgbClr val="FF0000"/>
                </a:solidFill>
              </a:rPr>
              <a:t>(</a:t>
            </a:r>
            <a:r>
              <a:rPr lang="zh-TW" altLang="en-US" sz="4400" dirty="0">
                <a:solidFill>
                  <a:srgbClr val="FF0000"/>
                </a:solidFill>
              </a:rPr>
              <a:t>這段需要修改</a:t>
            </a:r>
            <a:r>
              <a:rPr lang="en-US" altLang="zh-TW" sz="4400" dirty="0">
                <a:solidFill>
                  <a:srgbClr val="FF0000"/>
                </a:solidFill>
              </a:rPr>
              <a:t>)</a:t>
            </a:r>
            <a:endParaRPr sz="4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處理完成率：36 / 36（100%）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rgbClr val="FF0000"/>
                </a:solidFill>
              </a:rPr>
              <a:t>特別是這段</a:t>
            </a:r>
            <a:r>
              <a:rPr lang="en-US" altLang="zh-TW" sz="2400" dirty="0">
                <a:solidFill>
                  <a:srgbClr val="FF0000"/>
                </a:solidFill>
              </a:rPr>
              <a:t>)</a:t>
            </a:r>
            <a:endParaRPr sz="2400" dirty="0">
              <a:solidFill>
                <a:srgbClr val="FF0000"/>
              </a:solidFill>
            </a:endParaRPr>
          </a:p>
          <a:p>
            <a:r>
              <a:rPr sz="2400" dirty="0"/>
              <a:t>• </a:t>
            </a:r>
            <a:r>
              <a:rPr sz="2400" dirty="0" err="1"/>
              <a:t>人臉偵測率：約</a:t>
            </a:r>
            <a:r>
              <a:rPr sz="2400" dirty="0"/>
              <a:t> 99.93%</a:t>
            </a:r>
            <a:r>
              <a:rPr lang="zh-TW" altLang="en-US" sz="2400" dirty="0"/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rgbClr val="FF0000"/>
                </a:solidFill>
              </a:rPr>
              <a:t>還有這段</a:t>
            </a:r>
            <a:r>
              <a:rPr lang="en-US" altLang="zh-TW" sz="2400" dirty="0">
                <a:solidFill>
                  <a:srgbClr val="FF0000"/>
                </a:solidFill>
              </a:rPr>
              <a:t>)</a:t>
            </a:r>
            <a:endParaRPr sz="2400" dirty="0">
              <a:solidFill>
                <a:srgbClr val="FF0000"/>
              </a:solidFill>
            </a:endParaRPr>
          </a:p>
          <a:p>
            <a:r>
              <a:rPr sz="2400" dirty="0"/>
              <a:t>• </a:t>
            </a:r>
            <a:r>
              <a:rPr sz="2400" dirty="0" err="1"/>
              <a:t>rPPG</a:t>
            </a:r>
            <a:r>
              <a:rPr sz="2400" dirty="0"/>
              <a:t> quality ≈ 0.911，SQI ≈ 0.962</a:t>
            </a:r>
          </a:p>
          <a:p>
            <a:r>
              <a:rPr sz="2400" dirty="0"/>
              <a:t>• </a:t>
            </a:r>
            <a:r>
              <a:rPr sz="2400" dirty="0" err="1"/>
              <a:t>平均</a:t>
            </a:r>
            <a:r>
              <a:rPr sz="2400" dirty="0"/>
              <a:t> </a:t>
            </a:r>
            <a:r>
              <a:rPr sz="2400" dirty="0" err="1"/>
              <a:t>PERCLOS：Alert</a:t>
            </a:r>
            <a:r>
              <a:rPr sz="2400" dirty="0"/>
              <a:t> 2.46% → Drowsy 5.10%</a:t>
            </a:r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融合分數未隨</a:t>
            </a:r>
            <a:r>
              <a:rPr sz="2400" dirty="0">
                <a:solidFill/>
              </a:rPr>
              <a:t> 0→5→10 </a:t>
            </a:r>
            <a:r>
              <a:rPr sz="2400" dirty="0" err="1">
                <a:solidFill/>
              </a:rPr>
              <a:t>單調上升</a:t>
            </a:r>
            <a:r>
              <a:rPr sz="2400" dirty="0">
                <a:solidFill/>
              </a:rPr>
              <a:t> → </a:t>
            </a:r>
            <a:r>
              <a:rPr sz="2400" dirty="0" err="1">
                <a:solidFill/>
              </a:rPr>
              <a:t>門檻待校正</a:t>
            </a:r>
            <a:endParaRPr lang="en-US" sz="2400" dirty="0">
              <a:solidFill/>
            </a:endParaRPr>
          </a:p>
          <a:p>
            <a:endParaRPr lang="en-US" sz="2400" dirty="0">
              <a:solidFill/>
            </a:endParaRPr>
          </a:p>
          <a:p>
            <a:r>
              <a:rPr lang="en-US" altLang="zh-TW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36</a:t>
            </a:r>
            <a:r>
              <a:rPr lang="zh-TW" altLang="en-US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部影片有多少</a:t>
            </a:r>
            <a:r>
              <a:rPr lang="en-US" altLang="zh-TW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frame(</a:t>
            </a:r>
            <a:r>
              <a:rPr lang="zh-TW" altLang="en-US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畫面</a:t>
            </a:r>
            <a:r>
              <a:rPr lang="en-US" altLang="zh-TW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)(</a:t>
            </a:r>
            <a:r>
              <a:rPr lang="zh-TW" altLang="en-US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還有影片規格</a:t>
            </a:r>
            <a:r>
              <a:rPr lang="en-US" altLang="zh-TW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)</a:t>
            </a:r>
            <a:r>
              <a:rPr lang="zh-TW" altLang="en-US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，是不是每一個畫面都有人臉，這樣才能算出人臉的偵測率</a:t>
            </a:r>
            <a:r>
              <a:rPr lang="en-US" altLang="zh-TW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(</a:t>
            </a:r>
            <a:r>
              <a:rPr lang="zh-TW" altLang="en-US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眨眼和打哈欠等也要標出</a:t>
            </a:r>
            <a:r>
              <a:rPr lang="en-US" altLang="zh-TW" sz="2400" dirty="0">
                <a:solidFill>
                  <a:srgbClr val="FF0000"/>
                </a:solidFill>
                <a:latin typeface="HGMinchoB" panose="02020809000000000000" pitchFamily="17" charset="-128"/>
                <a:ea typeface="HGMinchoB" panose="02020809000000000000" pitchFamily="17" charset="-128"/>
              </a:rPr>
              <a:t>)</a:t>
            </a:r>
            <a:endParaRPr lang="zh-TW" altLang="en-US" sz="2400" dirty="0">
              <a:solidFill>
                <a:srgbClr val="FF0000"/>
              </a:solidFill>
              <a:latin typeface="HGMinchoB" panose="02020809000000000000" pitchFamily="17" charset="-128"/>
              <a:ea typeface="HGMinchoB" panose="02020809000000000000" pitchFamily="17" charset="-128"/>
            </a:endParaRPr>
          </a:p>
          <a:p>
            <a:endParaRPr sz="2400" dirty="0">
              <a:solidFill/>
            </a:endParaRPr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建議插圖：必插：UTA-RLDD</a:t>
            </a:r>
            <a:r>
              <a:rPr dirty="0"/>
              <a:t> </a:t>
            </a:r>
            <a:r>
              <a:rPr dirty="0" err="1"/>
              <a:t>量化結果表或圖（三類</a:t>
            </a:r>
            <a:r>
              <a:rPr dirty="0"/>
              <a:t> </a:t>
            </a:r>
            <a:r>
              <a:rPr dirty="0" err="1"/>
              <a:t>PERCLOS／人臉偵測率長條圖；可用</a:t>
            </a:r>
            <a:r>
              <a:rPr dirty="0"/>
              <a:t> summary CSV </a:t>
            </a:r>
            <a:r>
              <a:rPr dirty="0" err="1"/>
              <a:t>製圖</a:t>
            </a:r>
            <a:r>
              <a:rPr dirty="0"/>
              <a:t>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6987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功能性測試與展示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pytest：rPPG</a:t>
            </a:r>
            <a:r>
              <a:rPr sz="2400" dirty="0"/>
              <a:t> </a:t>
            </a:r>
            <a:r>
              <a:rPr sz="2400" dirty="0" err="1"/>
              <a:t>濾波、MediaPipe</a:t>
            </a:r>
            <a:r>
              <a:rPr sz="2400" dirty="0"/>
              <a:t> </a:t>
            </a:r>
            <a:r>
              <a:rPr sz="2400" dirty="0" err="1"/>
              <a:t>增強、replay</a:t>
            </a:r>
            <a:r>
              <a:rPr sz="2400" dirty="0"/>
              <a:t> </a:t>
            </a:r>
            <a:r>
              <a:rPr sz="2400" dirty="0" err="1"/>
              <a:t>流程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即時測試：眨眼、閉眼、轉頭、哈欠等事件可觸發</a:t>
            </a:r>
            <a:endParaRPr sz="2400" dirty="0"/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長時間運作穩定，錄製與回放資料一致</a:t>
            </a:r>
            <a:endParaRPr sz="2400" dirty="0"/>
          </a:p>
          <a:p>
            <a:r>
              <a:rPr sz="2400" dirty="0">
                <a:solidFill/>
              </a:rPr>
              <a:t>• </a:t>
            </a:r>
            <a:r>
              <a:rPr sz="2400" dirty="0" err="1">
                <a:solidFill/>
              </a:rPr>
              <a:t>支援即時相機展示與</a:t>
            </a:r>
            <a:r>
              <a:rPr sz="2400" dirty="0">
                <a:solidFill/>
              </a:rPr>
              <a:t> Web </a:t>
            </a:r>
            <a:r>
              <a:rPr sz="2400" dirty="0" err="1">
                <a:solidFill/>
              </a:rPr>
              <a:t>儀表板操作</a:t>
            </a:r>
            <a:endParaRPr lang="en-US" sz="2400" dirty="0">
              <a:solidFill/>
            </a:endParaRPr>
          </a:p>
          <a:p>
            <a:endParaRPr lang="en-US" sz="2400" dirty="0">
              <a:solidFill/>
            </a:endParaRPr>
          </a:p>
          <a:p>
            <a:endParaRPr lang="en-US" sz="2400" dirty="0">
              <a:solidFill/>
            </a:endParaRPr>
          </a:p>
          <a:p>
            <a:endParaRPr sz="2400" dirty="0">
              <a:solidFill/>
            </a:endParaRPr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建議插圖：建議：pytest</a:t>
            </a:r>
            <a:r>
              <a:rPr dirty="0"/>
              <a:t> </a:t>
            </a:r>
            <a:r>
              <a:rPr dirty="0" err="1"/>
              <a:t>通過截圖</a:t>
            </a:r>
            <a:r>
              <a:rPr dirty="0"/>
              <a:t> + </a:t>
            </a:r>
            <a:r>
              <a:rPr dirty="0" err="1"/>
              <a:t>即時</a:t>
            </a:r>
            <a:r>
              <a:rPr dirty="0"/>
              <a:t> Demo </a:t>
            </a:r>
            <a:r>
              <a:rPr dirty="0" err="1"/>
              <a:t>照片（疲勞</a:t>
            </a:r>
            <a:r>
              <a:rPr dirty="0"/>
              <a:t> GUI </a:t>
            </a:r>
            <a:r>
              <a:rPr dirty="0" err="1"/>
              <a:t>為主；模擬器可小圖放角落</a:t>
            </a:r>
            <a:r>
              <a:rPr dirty="0"/>
              <a:t>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68859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TW" altLang="en-US" sz="44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未來挑戰</a:t>
            </a:r>
            <a:r>
              <a:rPr lang="en-US" altLang="zh-TW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(</a:t>
            </a:r>
            <a:r>
              <a:rPr lang="zh-TW" altLang="en-US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原稱</a:t>
            </a:r>
            <a:r>
              <a:rPr lang="en-US" altLang="zh-TW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”</a:t>
            </a:r>
            <a:r>
              <a:rPr lang="zh-TW" altLang="en-US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挑戰與解決</a:t>
            </a:r>
            <a:r>
              <a:rPr lang="en-US" altLang="zh-TW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”</a:t>
            </a:r>
            <a:r>
              <a:rPr lang="zh-TW" altLang="en-US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，這張</a:t>
            </a:r>
            <a:endParaRPr lang="en-US" altLang="zh-TW" sz="4400" dirty="0">
              <a:solidFill>
                <a:srgbClr val="FF0000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r>
              <a:rPr lang="zh-TW" altLang="en-US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看情況可以刪掉</a:t>
            </a:r>
            <a:r>
              <a:rPr lang="en-US" altLang="zh-TW" sz="4400" dirty="0">
                <a:solidFill>
                  <a:srgbClr val="FF0000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 err="1"/>
              <a:t>挑戰：光線、眼鏡、姿態影響</a:t>
            </a:r>
            <a:r>
              <a:rPr sz="2400" dirty="0"/>
              <a:t> landmark 與 ROI</a:t>
            </a:r>
          </a:p>
          <a:p>
            <a:r>
              <a:rPr sz="2400" dirty="0"/>
              <a:t>  → </a:t>
            </a:r>
            <a:r>
              <a:rPr sz="2400" dirty="0" err="1"/>
              <a:t>動態權重、姿態補償、品質</a:t>
            </a:r>
            <a:r>
              <a:rPr sz="2400" dirty="0"/>
              <a:t> gate</a:t>
            </a:r>
          </a:p>
          <a:p>
            <a:endParaRPr sz="2400" dirty="0"/>
          </a:p>
          <a:p>
            <a:r>
              <a:rPr sz="2400" dirty="0" err="1"/>
              <a:t>挑戰：rPPG</a:t>
            </a:r>
            <a:r>
              <a:rPr sz="2400" dirty="0"/>
              <a:t> </a:t>
            </a:r>
            <a:r>
              <a:rPr sz="2400" dirty="0" err="1"/>
              <a:t>偶發</a:t>
            </a:r>
            <a:r>
              <a:rPr sz="2400" dirty="0"/>
              <a:t> BPM </a:t>
            </a:r>
            <a:r>
              <a:rPr sz="2400" dirty="0" err="1"/>
              <a:t>跳動</a:t>
            </a:r>
            <a:endParaRPr sz="2400" dirty="0"/>
          </a:p>
          <a:p>
            <a:r>
              <a:rPr sz="2400" dirty="0"/>
              <a:t>  → SQI </a:t>
            </a:r>
            <a:r>
              <a:rPr sz="2400" dirty="0" err="1"/>
              <a:t>門檻、保守融合、診斷欄位留存</a:t>
            </a:r>
            <a:endParaRPr sz="2400" dirty="0"/>
          </a:p>
          <a:p>
            <a:endParaRPr sz="2400" dirty="0"/>
          </a:p>
          <a:p>
            <a:r>
              <a:rPr sz="2400" dirty="0" err="1"/>
              <a:t>挑戰：Alert</a:t>
            </a:r>
            <a:r>
              <a:rPr sz="2400" dirty="0"/>
              <a:t> </a:t>
            </a:r>
            <a:r>
              <a:rPr sz="2400" dirty="0" err="1"/>
              <a:t>誤報與</a:t>
            </a:r>
            <a:r>
              <a:rPr sz="2400" dirty="0"/>
              <a:t> Drowsy </a:t>
            </a:r>
            <a:r>
              <a:rPr sz="2400" dirty="0" err="1"/>
              <a:t>漏報</a:t>
            </a:r>
            <a:endParaRPr sz="2400" dirty="0"/>
          </a:p>
          <a:p>
            <a:r>
              <a:rPr sz="2400" dirty="0">
                <a:solidFill/>
              </a:rPr>
              <a:t>  → </a:t>
            </a:r>
            <a:r>
              <a:rPr sz="2400" dirty="0" err="1">
                <a:solidFill/>
              </a:rPr>
              <a:t>門檻需標註資料校正；報表分母待改善</a:t>
            </a:r>
            <a:endParaRPr sz="2400" dirty="0">
              <a:solidFill/>
            </a:endParaRP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──────────────</a:t>
            </a:r>
          </a:p>
          <a:p>
            <a:r>
              <a:rPr dirty="0"/>
              <a:t>📷 </a:t>
            </a:r>
            <a:r>
              <a:rPr dirty="0" err="1"/>
              <a:t>建議插圖：選填：光線不佳</a:t>
            </a:r>
            <a:r>
              <a:rPr dirty="0"/>
              <a:t> vs </a:t>
            </a:r>
            <a:r>
              <a:rPr dirty="0" err="1"/>
              <a:t>正常對照、ROI</a:t>
            </a:r>
            <a:r>
              <a:rPr dirty="0"/>
              <a:t> </a:t>
            </a:r>
            <a:r>
              <a:rPr dirty="0" err="1"/>
              <a:t>降權前後對照（各一小圖</a:t>
            </a:r>
            <a:r>
              <a:rPr dirty="0"/>
              <a:t>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5702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系統限制說明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/>
              <a:t>• </a:t>
            </a:r>
            <a:r>
              <a:rPr sz="2400" dirty="0" err="1"/>
              <a:t>工程原型，不作醫療診斷或執勤唯一依據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非高準確率三分類器（UTA-RLDD</a:t>
            </a:r>
            <a:r>
              <a:rPr sz="2400" dirty="0"/>
              <a:t> </a:t>
            </a:r>
            <a:r>
              <a:rPr sz="2400" dirty="0" err="1"/>
              <a:t>已驗證限制</a:t>
            </a:r>
            <a:r>
              <a:rPr sz="2400" dirty="0"/>
              <a:t>）</a:t>
            </a:r>
          </a:p>
          <a:p>
            <a:r>
              <a:rPr sz="2400" dirty="0"/>
              <a:t>• </a:t>
            </a:r>
            <a:r>
              <a:rPr sz="2400" dirty="0" err="1"/>
              <a:t>rPPG</a:t>
            </a:r>
            <a:r>
              <a:rPr sz="2400" dirty="0"/>
              <a:t> </a:t>
            </a:r>
            <a:r>
              <a:rPr sz="2400" dirty="0" err="1"/>
              <a:t>不能用</a:t>
            </a:r>
            <a:r>
              <a:rPr sz="2400" dirty="0"/>
              <a:t> UTA-RLDD 驗 BPM </a:t>
            </a:r>
            <a:r>
              <a:rPr sz="2400" dirty="0" err="1"/>
              <a:t>絕對準確率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個人眼型、眼鏡、環境光線影響仍明顯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持久化校準可能影響資料集回放可重現性</a:t>
            </a:r>
            <a:endParaRPr sz="2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結論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完成以臉部行為為主、rPPG</a:t>
            </a:r>
            <a:r>
              <a:rPr sz="2400" dirty="0"/>
              <a:t> </a:t>
            </a:r>
            <a:r>
              <a:rPr sz="2400" dirty="0" err="1"/>
              <a:t>為輔的疲勞辨識原型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具即時分析、融合評分、紀錄與</a:t>
            </a:r>
            <a:r>
              <a:rPr sz="2400" dirty="0"/>
              <a:t> Web </a:t>
            </a:r>
            <a:r>
              <a:rPr sz="2400" dirty="0" err="1"/>
              <a:t>可視化能力</a:t>
            </a:r>
            <a:endParaRPr sz="2400" dirty="0"/>
          </a:p>
          <a:p>
            <a:r>
              <a:rPr sz="2400" dirty="0"/>
              <a:t>• UTA-RLDD </a:t>
            </a:r>
            <a:r>
              <a:rPr sz="2400" dirty="0" err="1"/>
              <a:t>證明偵測管線穩定，PERCLOS</a:t>
            </a:r>
            <a:r>
              <a:rPr sz="2400" dirty="0"/>
              <a:t> 對 Drowsy </a:t>
            </a:r>
            <a:r>
              <a:rPr sz="2400" dirty="0" err="1"/>
              <a:t>有反應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融合門檻尚需場域資料校正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可作為長時間專注任務的疲勞趨勢輔助工具</a:t>
            </a:r>
            <a:endParaRPr sz="2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4416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未來展望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校正</a:t>
            </a:r>
            <a:r>
              <a:rPr sz="2400" dirty="0"/>
              <a:t> LOW_VIGILANCE </a:t>
            </a:r>
            <a:r>
              <a:rPr sz="2400" dirty="0" err="1"/>
              <a:t>門檻，降低</a:t>
            </a:r>
            <a:r>
              <a:rPr sz="2400" dirty="0"/>
              <a:t> false alarm</a:t>
            </a:r>
          </a:p>
          <a:p>
            <a:r>
              <a:rPr sz="2400" dirty="0"/>
              <a:t>• </a:t>
            </a:r>
            <a:r>
              <a:rPr sz="2400" dirty="0" err="1"/>
              <a:t>提高</a:t>
            </a:r>
            <a:r>
              <a:rPr sz="2400" dirty="0"/>
              <a:t> Drowsy </a:t>
            </a:r>
            <a:r>
              <a:rPr sz="2400" dirty="0" err="1"/>
              <a:t>敏感度與</a:t>
            </a:r>
            <a:r>
              <a:rPr sz="2400" dirty="0"/>
              <a:t> post-calibration </a:t>
            </a:r>
            <a:r>
              <a:rPr sz="2400" dirty="0" err="1"/>
              <a:t>統計</a:t>
            </a:r>
            <a:endParaRPr sz="2400" dirty="0"/>
          </a:p>
          <a:p>
            <a:r>
              <a:rPr sz="2400" dirty="0"/>
              <a:t>• replay </a:t>
            </a:r>
            <a:r>
              <a:rPr sz="2400" dirty="0" err="1"/>
              <a:t>校準</a:t>
            </a:r>
            <a:r>
              <a:rPr sz="2400" dirty="0"/>
              <a:t> namespace </a:t>
            </a:r>
            <a:r>
              <a:rPr sz="2400" dirty="0" err="1"/>
              <a:t>隔離，確保可重現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真人場域標註與門檻最佳化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邊緣部署、多使用者與更多行為特徵</a:t>
            </a:r>
            <a:endParaRPr sz="2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4416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參考資料</a:t>
            </a:r>
            <a:endParaRPr sz="44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/>
              <a:t>• </a:t>
            </a:r>
            <a:r>
              <a:rPr sz="2800" dirty="0">
                <a:hlinkClick r:id="rId4"/>
              </a:rPr>
              <a:t>Google </a:t>
            </a:r>
            <a:r>
              <a:rPr sz="2800" dirty="0" err="1">
                <a:hlinkClick r:id="rId4"/>
              </a:rPr>
              <a:t>MediaPipe</a:t>
            </a:r>
            <a:r>
              <a:rPr sz="2800" dirty="0">
                <a:hlinkClick r:id="rId4"/>
              </a:rPr>
              <a:t> Face </a:t>
            </a:r>
            <a:r>
              <a:rPr sz="2800" dirty="0" err="1">
                <a:hlinkClick r:id="rId4"/>
              </a:rPr>
              <a:t>Landmarker</a:t>
            </a:r>
            <a:endParaRPr sz="2800"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r>
              <a:rPr sz="2800" dirty="0"/>
              <a:t>• </a:t>
            </a:r>
            <a:r>
              <a:rPr sz="2800" dirty="0">
                <a:hlinkClick r:id="rId5"/>
              </a:rPr>
              <a:t>UTA-RLDD Dataset (</a:t>
            </a:r>
            <a:r>
              <a:rPr sz="2800" dirty="0" err="1">
                <a:hlinkClick r:id="rId5"/>
              </a:rPr>
              <a:t>Ghoddoosian</a:t>
            </a:r>
            <a:r>
              <a:rPr sz="2800" dirty="0">
                <a:hlinkClick r:id="rId5"/>
              </a:rPr>
              <a:t> et al., CVPRW 2019)</a:t>
            </a:r>
          </a:p>
          <a:p>
            <a:r>
              <a:rPr sz="2800" dirty="0"/>
              <a:t>• </a:t>
            </a:r>
            <a:r>
              <a:rPr sz="2800" dirty="0">
                <a:hlinkClick r:id="rId6"/>
              </a:rPr>
              <a:t>Wang et al., Algorithmic Principles of Remote PPG</a:t>
            </a:r>
          </a:p>
          <a:p>
            <a:r>
              <a:rPr sz="2800" dirty="0"/>
              <a:t>• </a:t>
            </a:r>
            <a:r>
              <a:rPr sz="2800" dirty="0">
                <a:hlinkClick r:id="rId7"/>
              </a:rPr>
              <a:t>OpenCV Documentation</a:t>
            </a:r>
          </a:p>
          <a:p>
            <a:r>
              <a:rPr sz="2800" dirty="0"/>
              <a:t>• </a:t>
            </a:r>
            <a:r>
              <a:rPr sz="2800" dirty="0">
                <a:hlinkClick r:id="rId8"/>
              </a:rPr>
              <a:t>Qt for Python (PySide6)</a:t>
            </a:r>
          </a:p>
          <a:p>
            <a:r>
              <a:rPr sz="2800" dirty="0"/>
              <a:t>• </a:t>
            </a:r>
            <a:r>
              <a:rPr sz="2800" dirty="0">
                <a:hlinkClick r:id="rId9"/>
              </a:rPr>
              <a:t>Flask-</a:t>
            </a:r>
            <a:r>
              <a:rPr sz="2800" dirty="0" err="1">
                <a:hlinkClick r:id="rId9"/>
              </a:rPr>
              <a:t>SocketIO</a:t>
            </a:r>
            <a:r>
              <a:rPr sz="2800" dirty="0">
                <a:hlinkClick r:id="rId9"/>
              </a:rPr>
              <a:t> Documentation</a:t>
            </a:r>
          </a:p>
          <a:p>
            <a:r>
              <a:rPr sz="2800" dirty="0"/>
              <a:t>• </a:t>
            </a:r>
            <a:r>
              <a:rPr sz="2800" dirty="0">
                <a:hlinkClick r:id="rId10"/>
              </a:rPr>
              <a:t>Driver Drowsiness </a:t>
            </a:r>
            <a:r>
              <a:rPr sz="2800" dirty="0" err="1">
                <a:hlinkClick r:id="rId10"/>
              </a:rPr>
              <a:t>Detection（EAR</a:t>
            </a:r>
            <a:r>
              <a:rPr sz="2800" dirty="0">
                <a:hlinkClick r:id="rId10"/>
              </a:rPr>
              <a:t> / PERCLOS </a:t>
            </a:r>
            <a:r>
              <a:rPr sz="2800" dirty="0" err="1">
                <a:hlinkClick r:id="rId10"/>
              </a:rPr>
              <a:t>借鑑</a:t>
            </a:r>
            <a:r>
              <a:rPr sz="2800" dirty="0">
                <a:hlinkClick r:id="rId10"/>
              </a:rPr>
              <a:t>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1282</Words>
  <Application>Microsoft Office PowerPoint</Application>
  <PresentationFormat>如螢幕大小 (4:3)</PresentationFormat>
  <Paragraphs>258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BIZ UDPGothic</vt:lpstr>
      <vt:lpstr>HGGothicE</vt:lpstr>
      <vt:lpstr>HGMinchoB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李奕辰</dc:creator>
  <cp:keywords/>
  <dc:description>generated using python-pptx</dc:description>
  <cp:lastModifiedBy>奕辰 李</cp:lastModifiedBy>
  <cp:revision>28</cp:revision>
  <dcterms:created xsi:type="dcterms:W3CDTF">2013-01-27T09:14:16Z</dcterms:created>
  <dcterms:modified xsi:type="dcterms:W3CDTF">2026-06-16T11:47:06Z</dcterms:modified>
  <cp:category/>
</cp:coreProperties>
</file>