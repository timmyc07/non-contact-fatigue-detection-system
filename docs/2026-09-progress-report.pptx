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8962FF"/>
            </a:solidFill>
          </c:spPr>
          <c:cat>
            <c:strRef>
              <c:f>Sheet1!$A$2:$A$4</c:f>
              <c:strCache>
                <c:ptCount val="3"/>
                <c:pt idx="0">
                  <c:v>改前</c:v>
                </c:pt>
                <c:pt idx="1">
                  <c:v>改後</c:v>
                </c:pt>
                <c:pt idx="2">
                  <c:v>留出集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0.53</c:v>
                </c:pt>
                <c:pt idx="1">
                  <c:v>0.75</c:v>
                </c:pt>
                <c:pt idx="2">
                  <c:v>0.69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  <c:majorUnit val="0.2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43000"/>
            <a:ext cx="1078992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200" b="1">
                <a:solidFill>
                  <a:srgbClr val="F5F7FF"/>
                </a:solidFill>
                <a:latin typeface="PingFang TC"/>
              </a:rPr>
              <a:t>NCFD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965960"/>
            <a:ext cx="10515600" cy="5943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000" b="1">
                <a:solidFill>
                  <a:srgbClr val="8962FF"/>
                </a:solidFill>
                <a:latin typeface="PingFang TC"/>
              </a:rPr>
              <a:t>2026 年 7 月至今進度報告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914400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>
                <a:solidFill>
                  <a:srgbClr val="AEB8CF"/>
                </a:solidFill>
                <a:latin typeface="PingFang TC"/>
              </a:rPr>
              <a:t>非接觸式無人機駕駛員疲勞監測系統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0"/>
            <a:ext cx="100584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AEB8CF"/>
                </a:solidFill>
                <a:latin typeface="PingFang TC"/>
              </a:rPr>
              <a:t>期間：2026-07-02 – 2026-09-06　｜　截至 Git 最新提交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PingFang TC"/>
              </a:rPr>
              <a:t>一、整體成果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972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100" b="0">
                <a:solidFill>
                  <a:srgbClr val="AEB8CF"/>
                </a:solidFill>
                <a:latin typeface="PingFang TC"/>
              </a:rPr>
              <a:t>從可運作原型，推進到可量測、可回歸、可封裝、跨平台的桌面系統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82880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63039"/>
            <a:ext cx="314553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48CDDC"/>
                </a:solidFill>
                <a:latin typeface="PingFang TC"/>
              </a:rPr>
              <a:t>演算法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28800"/>
            <a:ext cx="3145536" cy="12344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疲勞融合 AUC
0.53 → 0.75
留出集 0.69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74720" cy="182880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63039"/>
            <a:ext cx="314553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49CD91"/>
                </a:solidFill>
                <a:latin typeface="PingFang TC"/>
              </a:rPr>
              <a:t>生理訊號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28800"/>
            <a:ext cx="3145536" cy="12344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BLE 心跳帶真值
rPPG 校準與離線 A/B
155 個實錄視窗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474720" cy="182880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463039"/>
            <a:ext cx="314553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F6AE4B"/>
                </a:solidFill>
                <a:latin typeface="PingFang TC"/>
              </a:rPr>
              <a:t>產品工程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828800"/>
            <a:ext cx="3145536" cy="12344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Flutter + Tauri 桌面化
Python headless engine
Windows / macOS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0607040" cy="1188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400" b="1">
                <a:solidFill>
                  <a:srgbClr val="F5F7FF"/>
                </a:solidFill>
                <a:latin typeface="PingFang TC"/>
              </a:rPr>
              <a:t>核心原則：先量測再修改；數值路徑保持可回歸，UI、部署與平台差異集中管理。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PingFang TC"/>
              </a:rPr>
              <a:t>二、7 月：疲勞判定資料驅動校準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972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100" b="0">
                <a:solidFill>
                  <a:srgbClr val="AEB8CF"/>
                </a:solidFill>
                <a:latin typeface="PingFang TC"/>
              </a:rPr>
              <a:t>先拆解訊號，再調整門檻與融合權重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50292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126480" y="1417320"/>
            <a:ext cx="5212080" cy="123444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91072" y="1554480"/>
            <a:ext cx="488289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48CDDC"/>
                </a:solidFill>
                <a:latin typeface="PingFang TC"/>
              </a:rPr>
              <a:t>診斷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1920240"/>
            <a:ext cx="4882896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PERCLOS 原始 AUC 0.79，但門檻 0.10/0.25 高於實際 0.005–0.067，訊號被壓成 0。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880360"/>
            <a:ext cx="5212080" cy="123444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3017520"/>
            <a:ext cx="488289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49CD91"/>
                </a:solidFill>
                <a:latin typeface="PingFang TC"/>
              </a:rPr>
              <a:t>修法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3383280"/>
            <a:ext cx="4882896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降低 PERCLOS 工作門檻、提高 PERCLOS 權重、降低反訊號通道權重，分離 composite 飽和點與狀態門檻。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343400"/>
            <a:ext cx="5212080" cy="123444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4480560"/>
            <a:ext cx="488289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F6AE4B"/>
                </a:solidFill>
                <a:latin typeface="PingFang TC"/>
              </a:rPr>
              <a:t>限制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4846320"/>
            <a:ext cx="4882896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校準與留出各 n=6/label，bootstrap CI 寬；方向性證據成立，尚非統計顯著定論。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PingFang TC"/>
              </a:rPr>
              <a:t>三、個人化與即時誤判修復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972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100" b="0">
                <a:solidFill>
                  <a:srgbClr val="AEB8CF"/>
                </a:solidFill>
                <a:latin typeface="PingFang TC"/>
              </a:rPr>
              <a:t>讓系統適應使用者，而非要求所有人符合同一組絕對門檻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566160" cy="420624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17319"/>
            <a:ext cx="323697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48CDDC"/>
                </a:solidFill>
                <a:latin typeface="PingFang TC"/>
              </a:rPr>
              <a:t>個人清醒基線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783080"/>
            <a:ext cx="3236976" cy="361187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P0–P5
• PERCLOS / gaze
• 眉距 / blink-temporal
• 哈欠 MAR
• manual &gt; auto &gt; fallback
• 跨 session 保存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80160"/>
            <a:ext cx="3566160" cy="420624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417319"/>
            <a:ext cx="323697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49CD91"/>
                </a:solidFill>
                <a:latin typeface="PingFang TC"/>
              </a:rPr>
              <a:t>持續閉眼強通道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783080"/>
            <a:ext cx="3236976" cy="361187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新增 eye_closure_sec
1 秒後開始累積
8 秒飽和
閉眼 3 秒 → 中度
閉眼 10 秒 → 高度
眨眼時逐位元回退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566160" cy="420624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417319"/>
            <a:ext cx="323697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F6AE4B"/>
                </a:solidFill>
                <a:latin typeface="PingFang TC"/>
              </a:rPr>
              <a:t>下視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783080"/>
            <a:ext cx="3236976" cy="361187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gaze_y + EAR + iris + gate
0.3 秒進入/退出去抖
下視時暫停衍生閉眼累積
深閉眼低於 floor 仍恢復
438 tests / golden 零漂移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PingFang TC"/>
              </a:rPr>
              <a:t>四、BLE 心跳帶與 rPPG 真值校準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972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100" b="0">
                <a:solidFill>
                  <a:srgbClr val="AEB8CF"/>
                </a:solidFill>
                <a:latin typeface="PingFang TC"/>
              </a:rPr>
              <a:t>心跳帶是老師：校準 rPPG，不直接取代疲勞判定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F5F7FF"/>
                </a:solidFill>
                <a:latin typeface="PingFang TC"/>
              </a:rPr>
              <a:t>影像 RGB / ROI　→　rPPG 原始 BPM　↔　BLE belt BPM　→　offset 校準版本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3291840" cy="228600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94560"/>
            <a:ext cx="296265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48CDDC"/>
                </a:solidFill>
                <a:latin typeface="PingFang TC"/>
              </a:rPr>
              <a:t>擷取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60320"/>
            <a:ext cx="2962656" cy="1691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bleak + 背景 asyncio
Heart Rate Service 0x180D
0x2A37 notify BPM/RR
stale / contact 檢查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057400"/>
            <a:ext cx="3291840" cy="228600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2194560"/>
            <a:ext cx="296265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49CD91"/>
                </a:solidFill>
                <a:latin typeface="PingFang TC"/>
              </a:rPr>
              <a:t>校準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560320"/>
            <a:ext cx="2962656" cy="1691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45 秒中位殘差
低增益 EMA α=0.08
只比對 raw BPM
避免自我回饋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057400"/>
            <a:ext cx="3291840" cy="228600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2194560"/>
            <a:ext cx="296265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F6AE4B"/>
                </a:solidFill>
                <a:latin typeface="PingFang TC"/>
              </a:rPr>
              <a:t>護欄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560320"/>
            <a:ext cx="2962656" cy="1691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A/B evaluator
連續 N 次更好才採用
變差 rollback
正式 ROI tuning 預設 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33272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800" b="1">
                <a:solidFill>
                  <a:srgbClr val="F5F7FF"/>
                </a:solidFill>
                <a:latin typeface="PingFang TC"/>
              </a:rPr>
              <a:t>實錄結論：穩態 MAE 2.73 BPM；整體 10.09 BPM 的 79% 來自半頻/諧波錯峰，ROI 權重不是主要槓桿。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PingFang TC"/>
              </a:rPr>
              <a:t>五、回放、回歸與證據鏈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972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100" b="0">
                <a:solidFill>
                  <a:srgbClr val="AEB8CF"/>
                </a:solidFill>
                <a:latin typeface="PingFang TC"/>
              </a:rPr>
              <a:t>把「變準」與「沒有意外漂移」分開量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83280" cy="356616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63039"/>
            <a:ext cx="305409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48CDDC"/>
                </a:solidFill>
                <a:latin typeface="PingFang TC"/>
              </a:rPr>
              <a:t>通用影片回放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3054096" cy="2971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任意影片輸入
deterministic timestamp
重用正式 fatigue / rPPG / fusion
UTA-RLDD 只作 preset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356616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63039"/>
            <a:ext cx="305409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49CD91"/>
                </a:solidFill>
                <a:latin typeface="PingFang TC"/>
              </a:rPr>
              <a:t>準確度量測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28800"/>
            <a:ext cx="3054096" cy="2971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utarldd_accuracy
單調性 / Spearman
Drowsy vs Alert AUC
bootstrap 95% CI
留出 subject 驗證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383280" cy="356616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463039"/>
            <a:ext cx="305409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F6AE4B"/>
                </a:solidFill>
                <a:latin typeface="PingFang TC"/>
              </a:rPr>
              <a:t>回歸保護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828800"/>
            <a:ext cx="3054096" cy="2971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utarldd_golden
固定 subject/label/frame
容差比對數值漂移
預期變更需聲明與重建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PingFang TC"/>
              </a:rPr>
              <a:t>六、GUI 與桌面架構轉型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972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100" b="0">
                <a:solidFill>
                  <a:srgbClr val="AEB8CF"/>
                </a:solidFill>
                <a:latin typeface="PingFang TC"/>
              </a:rPr>
              <a:t>Flutter 負責呈現，Python engine 負責領域邏輯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500" b="1">
                <a:solidFill>
                  <a:srgbClr val="F5F7FF"/>
                </a:solidFill>
                <a:latin typeface="PingFang TC"/>
              </a:rPr>
              <a:t>Flutter Web  →  Tauri v2 WebView  →  Python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291840" cy="256032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03120"/>
            <a:ext cx="296265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8962FF"/>
                </a:solidFill>
                <a:latin typeface="PingFang TC"/>
              </a:rPr>
              <a:t>Flutter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2962656" cy="1965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dashboard / 設定 / 回放
Overlay 顯示與互動
四頁導航、心跳帶專頁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65960"/>
            <a:ext cx="3291840" cy="256032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2103120"/>
            <a:ext cx="296265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48CDDC"/>
                </a:solidFill>
                <a:latin typeface="PingFang TC"/>
              </a:rPr>
              <a:t>Tauri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468880"/>
            <a:ext cx="2962656" cy="1965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原生視窗與 Overlay
shell action / IPC
shutdown / 平台能力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65960"/>
            <a:ext cx="3291840" cy="256032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2103120"/>
            <a:ext cx="296265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49CD91"/>
                </a:solidFill>
                <a:latin typeface="PingFang TC"/>
              </a:rPr>
              <a:t>Python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468880"/>
            <a:ext cx="2962656" cy="1965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相機、MediaPipe、rPPG
疲勞、錄影、BLE、校準
EngineRuntime 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1024128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700" b="1">
                <a:solidFill>
                  <a:srgbClr val="F5F7FF"/>
                </a:solidFill>
                <a:latin typeface="PingFang TC"/>
              </a:rPr>
              <a:t>移除隱藏 QMainWindow、假控件與舊 Qt visual modules；生命週期可重入、失敗可重試，數值輸出保持不變。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PingFang TC"/>
              </a:rPr>
              <a:t>七、封裝、跨平台與效能驗證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972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100" b="0">
                <a:solidFill>
                  <a:srgbClr val="AEB8CF"/>
                </a:solidFill>
                <a:latin typeface="PingFang TC"/>
              </a:rPr>
              <a:t>完成 Windows / macOS 桌面交付所需的啟動、相機與關閉流程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566160" cy="416052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371600"/>
            <a:ext cx="323697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49CD91"/>
                </a:solidFill>
                <a:latin typeface="PingFang TC"/>
              </a:rPr>
              <a:t>封裝與測試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737360"/>
            <a:ext cx="3236976" cy="35661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Python 757 passed, 2 skipped
Flutter 28 tests / analyze
Rust 8 tests
PyInstaller / Tauri / NSIS
installed smoke 全通過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566160" cy="416052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371600"/>
            <a:ext cx="323697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48CDDC"/>
                </a:solidFill>
                <a:latin typeface="PingFang TC"/>
              </a:rPr>
              <a:t>效能與生命週期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737360"/>
            <a:ext cx="3236976" cy="35661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RSS 約 270.0 → 256.3 MiB
後續約 253–257 MiB
state.get p50 約 20 ms
shutdown 最多等 6 秒
逾時才 process-tree kill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34440"/>
            <a:ext cx="3566160" cy="416052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371600"/>
            <a:ext cx="323697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F6AE4B"/>
                </a:solidFill>
                <a:latin typeface="PingFang TC"/>
              </a:rPr>
              <a:t>相機與 macOS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1737360"/>
            <a:ext cx="3236976" cy="35661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AVFoundation 優先
Windows DSHOW → MSMF → ANY
正式桌面固定 30 FPS
macOS 實測約 29.9 FPS
MediaPipe 固定 0.10.35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PingFang TC"/>
              </a:rPr>
              <a:t>八、精準度現況：已證明與尚未證明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972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100" b="0">
                <a:solidFill>
                  <a:srgbClr val="AEB8CF"/>
                </a:solidFill>
                <a:latin typeface="PingFang TC"/>
              </a:rPr>
              <a:t>測試通過不等於臨床級準確率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20640" cy="429768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71600"/>
            <a:ext cx="4791455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49CD91"/>
                </a:solidFill>
                <a:latin typeface="PingFang TC"/>
              </a:rPr>
              <a:t>目前已有證據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737360"/>
            <a:ext cx="4791455" cy="3703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✓ 融合 AUC 0.53 → 0.75，留出 0.69
✓ PERCLOS 是目前最強行為訊號
✓ 純閉眼 / 下視是針對實機情境的修復
✓ rPPG 穩態誤差約 2.73 BPM
✓ 回歸、生命週期與封裝可重現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120640" cy="429768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371600"/>
            <a:ext cx="4791455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EB6778"/>
                </a:solidFill>
                <a:latin typeface="PingFang TC"/>
              </a:rPr>
              <a:t>仍缺少的證據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737360"/>
            <a:ext cx="4791455" cy="3703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! 真人無人機場景逐幀標註
! 跨個體、相機、光線、姿態
! ECG/醫療胸帶對照
! PERCLOS P80 幅度式驗證
! rPPG 半頻/諧波錯峰修復
! 全量樣本與統計顯著性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PingFang TC"/>
              </a:rPr>
              <a:t>九、後續延伸路線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972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100" b="0">
                <a:solidFill>
                  <a:srgbClr val="AEB8CF"/>
                </a:solidFill>
                <a:latin typeface="PingFang TC"/>
              </a:rPr>
              <a:t>先補資料與證據，再進入高風險數值改動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474720" cy="411480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17319"/>
            <a:ext cx="314553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48CDDC"/>
                </a:solidFill>
                <a:latin typeface="PingFang TC"/>
              </a:rPr>
              <a:t>短期：資料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783080"/>
            <a:ext cx="3145536" cy="35204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真人清醒/疲勞/下視/閉眼
不同光線、姿態、硬體
同步影像、metrics、標註
profile 注入與 subject-disjoint 評估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474720" cy="411480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17319"/>
            <a:ext cx="314553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49CD91"/>
                </a:solidFill>
                <a:latin typeface="PingFang TC"/>
              </a:rPr>
              <a:t>中期：離線 A/B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783080"/>
            <a:ext cx="3145536" cy="35204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rPPG 峰選：生理合理性
+ 時序連續性 + SQI gate
KPI：錯峰 34/155 是否下降
穩態 MAE 不退化才考慮 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474720" cy="4114800"/>
          </a:xfrm>
          <a:prstGeom prst="roundRect">
            <a:avLst/>
          </a:prstGeom>
          <a:solidFill>
            <a:srgbClr val="1D2339"/>
          </a:solidFill>
          <a:ln>
            <a:solidFill>
              <a:srgbClr val="373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417319"/>
            <a:ext cx="3145536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500" b="1">
                <a:solidFill>
                  <a:srgbClr val="F6AE4B"/>
                </a:solidFill>
                <a:latin typeface="PingFang TC"/>
              </a:rPr>
              <a:t>長期：研究化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783080"/>
            <a:ext cx="3145536" cy="35204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300" b="0">
                <a:solidFill>
                  <a:srgbClr val="F5F7FF"/>
                </a:solidFill>
                <a:latin typeface="PingFang TC"/>
              </a:rPr>
              <a:t>可解釋 baseline 與 ML 比較
跨平台耗電/延遲品質門檻
資料同意、匿名化、版本化
建立可稽核研究資料流程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PingFang TC"/>
              </a:rPr>
              <a:t>十、參考文獻與查證方式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972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100" b="0">
                <a:solidFill>
                  <a:srgbClr val="AEB8CF"/>
                </a:solidFill>
                <a:latin typeface="PingFang TC"/>
              </a:rPr>
              <a:t>文獻提供方法與定義；門檻、權重與線上校準是工程決定，需以資料驗證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51560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>
                <a:solidFill>
                  <a:srgbClr val="F5F7FF"/>
                </a:solidFill>
                <a:latin typeface="PingFang TC"/>
              </a:rPr>
              <a:t>• MediaPipe Face Landmarker 官方指南；Lugaresi et al. (2019)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1051560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>
                <a:solidFill>
                  <a:srgbClr val="F5F7FF"/>
                </a:solidFill>
                <a:latin typeface="PingFang TC"/>
              </a:rPr>
              <a:t>• Soukupová &amp; Čech (2016) EAR；Dinges &amp; Grace / NHTSA PERCLOS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03704"/>
            <a:ext cx="1051560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>
                <a:solidFill>
                  <a:srgbClr val="F5F7FF"/>
                </a:solidFill>
                <a:latin typeface="PingFang TC"/>
              </a:rPr>
              <a:t>• Ghoddoosian et al. (2019) UTA-RLDD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42615"/>
            <a:ext cx="1051560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>
                <a:solidFill>
                  <a:srgbClr val="F5F7FF"/>
                </a:solidFill>
                <a:latin typeface="PingFang TC"/>
              </a:rPr>
              <a:t>• Wang et al. (2017) POS rPPG；de Haan &amp; Jeanne (2013) CHROM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81528"/>
            <a:ext cx="1051560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>
                <a:solidFill>
                  <a:srgbClr val="F5F7FF"/>
                </a:solidFill>
                <a:latin typeface="PingFang TC"/>
              </a:rPr>
              <a:t>• Welch (1967) PSD；ESC/NASPE (1996) HRV standards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20439"/>
            <a:ext cx="1051560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>
                <a:solidFill>
                  <a:srgbClr val="F5F7FF"/>
                </a:solidFill>
                <a:latin typeface="PingFang TC"/>
              </a:rPr>
              <a:t>• Bluetooth SIG Heart Rate Service；OpenCV / AVFoundation / Media Foundation 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59352"/>
            <a:ext cx="10515600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>
                <a:solidFill>
                  <a:srgbClr val="F5F7FF"/>
                </a:solidFill>
                <a:latin typeface="PingFang TC"/>
              </a:rPr>
              <a:t>• Hanley &amp; McNeil (1982) AUC；Efron (1979) bootstrap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120640"/>
            <a:ext cx="102412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0">
                <a:solidFill>
                  <a:srgbClr val="AEB8CF"/>
                </a:solidFill>
                <a:latin typeface="PingFang TC"/>
              </a:rPr>
              <a:t>完整連結與採用內容：docs/2026-09-progress-report.md 第五節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F5F7FF"/>
                </a:solidFill>
                <a:latin typeface="PingFang TC"/>
              </a:rPr>
              <a:t>結語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972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100" b="0">
                <a:solidFill>
                  <a:srgbClr val="AEB8CF"/>
                </a:solidFill>
                <a:latin typeface="PingFang TC"/>
              </a:rPr>
              <a:t>目前最重要的下一步，是把工程可驗證性延伸成場景可證明性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24128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000" b="1">
                <a:solidFill>
                  <a:srgbClr val="F5F7FF"/>
                </a:solidFill>
                <a:latin typeface="PingFang TC"/>
              </a:rPr>
              <a:t>系統骨架已完成，數值改善已有方向性證據。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241280" cy="1188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48CDDC"/>
                </a:solidFill>
                <a:latin typeface="PingFang TC"/>
              </a:rPr>
              <a:t>下一階段以跨個體、跨場景、同步真值與人工標註為核心，透過離線 A/B、subject-disjoint 評估與完整不確定度報告，決定哪些數值改動值得進入即時產品。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24128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0">
                <a:solidFill>
                  <a:srgbClr val="AEB8CF"/>
                </a:solidFill>
                <a:latin typeface="PingFang TC"/>
              </a:rPr>
              <a:t>NCFD System ｜ 2026-09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